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LSTM-ARCHITECTUUR: parameter voor parameter</a:t>
            </a:r>
          </a:p>
          <a:p/>
          <a:p>
            <a:r>
              <a:t>EMBEDDING  (nn.Embedding)</a:t>
            </a:r>
          </a:p>
          <a:p>
            <a:r>
              <a:t>Wat: zet een integer token-index om naar een dichte vector van grootte embed_dim.</a:t>
            </a:r>
          </a:p>
          <a:p>
            <a:r>
              <a:t>Waarom: een getal als '42' heeft geen betekenis voor het netwerk; een vector van 64 getallen wel. De embedding leert zelf welke tokens op elkaar lijken (bijv. noten in dezelfde toonaard krijgen nabijgelegen vectoren).</a:t>
            </a:r>
          </a:p>
          <a:p>
            <a:r>
              <a:t>Parameter embed_dim (standaard 64):</a:t>
            </a:r>
          </a:p>
          <a:p>
            <a:r>
              <a:t>  - Klein (32): sneller, minder expressief. Goed voor kleine vocabulaires (&lt;500 tokens).</a:t>
            </a:r>
          </a:p>
          <a:p>
            <a:r>
              <a:t>  - Groot (128–256): meer nuance, maar trager en meer risico op overtraining.</a:t>
            </a:r>
          </a:p>
          <a:p>
            <a:r>
              <a:t>  - Vuistregel: embed_dim ≈ sqrt(vocab_size). Bij vocab ~1000 is 64 ideaal.</a:t>
            </a:r>
          </a:p>
          <a:p/>
          <a:p>
            <a:r>
              <a:t>LSTM  (nn.LSTM)</a:t>
            </a:r>
          </a:p>
          <a:p>
            <a:r>
              <a:t>Wat: Long Short-Term Memory recurrente laag. Verwerkt de sequentie van embeddings en houdt een verborgen toestand bij die 'geheugen' over eerdere tokens opslaat.</a:t>
            </a:r>
          </a:p>
          <a:p>
            <a:r>
              <a:t>Twee kernparameters:</a:t>
            </a:r>
          </a:p>
          <a:p>
            <a:r>
              <a:t>  hidden (standaard 256): grootte van de verborgen toestand per tijdstap.</a:t>
            </a:r>
          </a:p>
          <a:p>
            <a:r>
              <a:t>    - Klein (64): snel maar beperkt. Goed voor korte stukken/eenvoudige structuren.</a:t>
            </a:r>
          </a:p>
          <a:p>
            <a:r>
              <a:t>    - Groot (512): trager maar beter bij complexe harmonische patronen.</a:t>
            </a:r>
          </a:p>
          <a:p>
            <a:r>
              <a:t>    - Te groot + weinig data = overtraining.</a:t>
            </a:r>
          </a:p>
          <a:p>
            <a:r>
              <a:t>  lagen (num_layers, standaard 2): aantal gestapelde LSTM-lagen.</a:t>
            </a:r>
          </a:p>
          <a:p>
            <a:r>
              <a:t>    - 1 laag: basismodel, snelst.</a:t>
            </a:r>
          </a:p>
          <a:p>
            <a:r>
              <a:t>    - 2 lagen: hogere-orde patronen leren (bijv. frasering boven ritme).</a:t>
            </a:r>
          </a:p>
          <a:p>
            <a:r>
              <a:t>    - 3–4 lagen: zelden beter dan 2 voor muziek; trager en instabiel.</a:t>
            </a:r>
          </a:p>
          <a:p>
            <a:r>
              <a:t>Intern bevat elke LSTM-laag 4 poorten (forget, input, cell, output) die elk hun eigen gewichtsmatrix hebben: 4 × hidden × (embed_dim + hidden) parameters.</a:t>
            </a:r>
          </a:p>
          <a:p/>
          <a:p>
            <a:r>
              <a:t>DROPOUT  (nn.Dropout)</a:t>
            </a:r>
          </a:p>
          <a:p>
            <a:r>
              <a:t>Wat: zet tijdens training willekeurig een fractie van de activaties op nul.</a:t>
            </a:r>
          </a:p>
          <a:p>
            <a:r>
              <a:t>Waarom: voorkomt dat het netwerk te sterk leunt op specifieke neuronen (overtraining). Wordt NIET toegepast tijdens inferentie (model.eval()).</a:t>
            </a:r>
          </a:p>
          <a:p>
            <a:r>
              <a:t>Parameter dropout (standaard 0.3):</a:t>
            </a:r>
          </a:p>
          <a:p>
            <a:r>
              <a:t>  - 0.0: geen regularisatie. Risico op overtraining bij kleine datasets.</a:t>
            </a:r>
          </a:p>
          <a:p>
            <a:r>
              <a:t>  - 0.3: 30% van de neuronen per stap uitgeschakeld. Goede balans.</a:t>
            </a:r>
          </a:p>
          <a:p>
            <a:r>
              <a:t>  - 0.5: sterke regularisatie. Gebruik bij heel kleine datasets of grote modellen.</a:t>
            </a:r>
          </a:p>
          <a:p/>
          <a:p>
            <a:r>
              <a:t>LINEAR  (nn.Linear)</a:t>
            </a:r>
          </a:p>
          <a:p>
            <a:r>
              <a:t>Wat: projecteert de laatste verborgen toestand (hidden-dim) terug naar vocab_size dimensies. De uitvoer zijn 'logits': ruwe scores per token.</a:t>
            </a:r>
          </a:p>
          <a:p>
            <a:r>
              <a:t>Waarom 'de laatste'? out[:, -1, :] neemt alleen de uitvoer van het laatste tijdstap — dat is de samenvatting van de volledige context. Daarna softmax voor kansen, sampling voor het volgende token.</a:t>
            </a:r>
          </a:p>
          <a:p/>
          <a:p>
            <a:r>
              <a:t>TOTALE PARAMETERCOUNT (richtlijn)</a:t>
            </a:r>
          </a:p>
          <a:p>
            <a:r>
              <a:t>embed_dim=64, hidden=256, lagen=2, vocab=1000:</a:t>
            </a:r>
          </a:p>
          <a:p>
            <a:r>
              <a:t>  Embedding:  1000 × 64  =   64.000</a:t>
            </a:r>
          </a:p>
          <a:p>
            <a:r>
              <a:t>  LSTM laag1: 4 × 256 × (64+256)  ≈  327.000</a:t>
            </a:r>
          </a:p>
          <a:p>
            <a:r>
              <a:t>  LSTM laag2: 4 × 256 × (256+256) ≈  524.000</a:t>
            </a:r>
          </a:p>
          <a:p>
            <a:r>
              <a:t>  Linear:     256 × 1000           =  256.000</a:t>
            </a:r>
          </a:p>
          <a:p>
            <a:r>
              <a:t>  Totaal: ≈ 1.2 miljoen parameters — klein maar effectief voor Bach-koralen.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TRAINING: parameter voor parameter</a:t>
            </a:r>
          </a:p>
          <a:p/>
          <a:p>
            <a:r>
              <a:t>HOE WERKT HET SLIDING WINDOW?</a:t>
            </a:r>
          </a:p>
          <a:p>
            <a:r>
              <a:t>Het volledige corpus wordt tokenized naar een lange reeks (pitch, duur)-paren. Stel venster=16 en de reeks is [t0, t1, t2, ... t500]:</a:t>
            </a:r>
          </a:p>
          <a:p>
            <a:r>
              <a:t>  Voorbeeld 0: X=[t0..t15],  y=t16</a:t>
            </a:r>
          </a:p>
          <a:p>
            <a:r>
              <a:t>  Voorbeeld 1: X=[t1..t16],  y=t17</a:t>
            </a:r>
          </a:p>
          <a:p>
            <a:r>
              <a:t>  ...</a:t>
            </a:r>
          </a:p>
          <a:p>
            <a:r>
              <a:t>Elk venster is één trainingsvoorbeeld. Zo ziet het model elk token in meerdere contexten — zowel als invoer als als label.</a:t>
            </a:r>
          </a:p>
          <a:p/>
          <a:p>
            <a:r>
              <a:t>PARAMETER 1 — VENSTER (context-lengte, standaard 16)</a:t>
            </a:r>
          </a:p>
          <a:p>
            <a:r>
              <a:t>Wat: hoeveel tokens 'achteruit' het model kan kijken bij elke voorspelling.</a:t>
            </a:r>
          </a:p>
          <a:p>
            <a:r>
              <a:t>16 tokens ≈ 4 maten (bij gemiddeld 4 noten per maat).</a:t>
            </a:r>
          </a:p>
          <a:p>
            <a:r>
              <a:t>  Klein (4–8): snel, weinig geheugen, maar het model 'vergeet' de frasering.</a:t>
            </a:r>
          </a:p>
          <a:p>
            <a:r>
              <a:t>  Standaard (16): goede balans context vs. rekentijd.</a:t>
            </a:r>
          </a:p>
          <a:p>
            <a:r>
              <a:t>  Groot (32–64): meer muzikale context (hele frase), maar veel trager en meer kans op overtraining bij kleine datasets.</a:t>
            </a:r>
          </a:p>
          <a:p>
            <a:r>
              <a:t>Effect op muziek: klein venster = repetitief en lokaal correct; groot venster = meer coherente frasering maar trager.</a:t>
            </a:r>
          </a:p>
          <a:p/>
          <a:p>
            <a:r>
              <a:t>PARAMETER 2 — HIDDEN UNITS (standaard 256)</a:t>
            </a:r>
          </a:p>
          <a:p>
            <a:r>
              <a:t>Wat: breedte van de LSTM-verborgen toestand. Meer units = meer capaciteit om patronen te onthouden.</a:t>
            </a:r>
          </a:p>
          <a:p>
            <a:r>
              <a:t>  64–128: snel, goed voor eenvoudige koralen (beperkt harmonisch).</a:t>
            </a:r>
          </a:p>
          <a:p>
            <a:r>
              <a:t>  256: standaard, goed voor cantates en passies.</a:t>
            </a:r>
          </a:p>
          <a:p>
            <a:r>
              <a:t>  512: voor grote corpora (400+ werken) met complexe structuur.</a:t>
            </a:r>
          </a:p>
          <a:p>
            <a:r>
              <a:t>Effect: groter hidden = hoger trainingsverlies slinkt sneller, maar validatieverlies kan hoger worden (overtraining).</a:t>
            </a:r>
          </a:p>
          <a:p/>
          <a:p>
            <a:r>
              <a:t>PARAMETER 3 — LAGEN (num_layers, standaard 2)</a:t>
            </a:r>
          </a:p>
          <a:p>
            <a:r>
              <a:t>Wat: aantal gestapelde LSTM-lagen. Elke extra laag verwerkt de uitvoer van de vorige laag en leert hogere-orde patronen.</a:t>
            </a:r>
          </a:p>
          <a:p>
            <a:r>
              <a:t>  1 laag: basismodel, snelst, goed genoeg voor eenvoudige structuren.</a:t>
            </a:r>
          </a:p>
          <a:p>
            <a:r>
              <a:t>  2 lagen: leert zowel lokale ritmepatronen (laag 1) als melodische frasering (laag 2). Aanbevolen standaard.</a:t>
            </a:r>
          </a:p>
          <a:p>
            <a:r>
              <a:t>  3–4 lagen: zelden beter voor Bach; instabiel zonder zorgvuldige regularisatie.</a:t>
            </a:r>
          </a:p>
          <a:p/>
          <a:p>
            <a:r>
              <a:t>PARAMETER 4 — EPOCHS (standaard max 200, early stopping)</a:t>
            </a:r>
          </a:p>
          <a:p>
            <a:r>
              <a:t>Wat: één epoch = het model heeft de volledige trainingsset één keer gezien.</a:t>
            </a:r>
          </a:p>
          <a:p>
            <a:r>
              <a:t>  Weinig epochs (5–20): ondertraining, model leert te weinig patronen.</a:t>
            </a:r>
          </a:p>
          <a:p>
            <a:r>
              <a:t>  Veel epochs (100–200): early stopping bepaalt wanneer te stoppen.</a:t>
            </a:r>
          </a:p>
          <a:p>
            <a:r>
              <a:t>Effect: het model met het LAAGSTE validatieverlies wordt opgeslagen (niet het laatste epoch). Zo wordt het beste moment vastgelegd.</a:t>
            </a:r>
          </a:p>
          <a:p/>
          <a:p>
            <a:r>
              <a:t>PARAMETER 5 — GEDULD / PATIENCE (standaard 10)</a:t>
            </a:r>
          </a:p>
          <a:p>
            <a:r>
              <a:t>Wat: als het validatieverlies 'geduld' epochs achtereen niet verbetert, stopt de training.</a:t>
            </a:r>
          </a:p>
          <a:p>
            <a:r>
              <a:t>  Laag geduld (3–5): snel stoppen, risico op te vroeg stoppen.</a:t>
            </a:r>
          </a:p>
          <a:p>
            <a:r>
              <a:t>  Hoog geduld (20+): meer kans op overtraining vinden, maar langer wachten.</a:t>
            </a:r>
          </a:p>
          <a:p>
            <a:r>
              <a:t>Standaard 10 = na 10 epochs zonder verbetering → stop, laad beste model.</a:t>
            </a:r>
          </a:p>
          <a:p/>
          <a:p>
            <a:r>
              <a:t>PARAMETER 6 — VALIDATIESPLIT (standaard 80/20)</a:t>
            </a:r>
          </a:p>
          <a:p>
            <a:r>
              <a:t>Wat: 80% van de data voor training, 20% voor validatie (evaluatie na elke epoch).</a:t>
            </a:r>
          </a:p>
          <a:p>
            <a:r>
              <a:t>De validatiedata wordt nooit voor gradiëntupdates gebruikt — het meet hoe goed het model generaliseert naar ongeziene stukken.</a:t>
            </a:r>
          </a:p>
          <a:p/>
          <a:p>
            <a:r>
              <a:t>OPTIMALISATIE: ADAM</a:t>
            </a:r>
          </a:p>
          <a:p>
            <a:r>
              <a:t>Adam past de leersnelheid per parameter automatisch aan op basis van hoe groot de recente gradiënten waren. Geen handmatige leersnelheidsscheduling nodig.</a:t>
            </a:r>
          </a:p>
          <a:p/>
          <a:p>
            <a:r>
              <a:t>GRADIENT CLIPPING (max_norm=1.0)</a:t>
            </a:r>
          </a:p>
          <a:p>
            <a:r>
              <a:t>Als de totale norm van alle gradiënten groter is dan 1.0, worden ze proportioneel geschaald zodat de norm precies 1.0 wordt. Dit voorkomt plotse grote gewichtsupdates ('exploderende gradiënten') die bij diepe LSTM's kunnen optreden bij lange sequenties of grote leersnelheden.</a:t>
            </a:r>
          </a:p>
          <a:p/>
          <a:p>
            <a:r>
              <a:t>TRAININGSDUUR (typisch op de beschikbare hardware)</a:t>
            </a:r>
          </a:p>
          <a:p>
            <a:r>
              <a:t>Koralen, hidden=256, 2 lagen, 20 epochs: ~10 min CPU / ~2 min GPU.</a:t>
            </a:r>
          </a:p>
          <a:p>
            <a:r>
              <a:t>Cantates/Passies: ~30 min CPU / ~5 min GPU.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AI-AANVULLING vs FINE-TUNED: het grote verschil</a:t>
            </a:r>
          </a:p>
          <a:p/>
          <a:p>
            <a:r>
              <a:t>BEIDE versies gebruiken dezelfde aanvullingstechniek: ritme overnemen uit het origineel, en per duurslot een pitch genereren via het LSTM-model. Het verschil zit in WELk model gebruikt wordt.</a:t>
            </a:r>
          </a:p>
          <a:p/>
          <a:p>
            <a:r>
              <a:t>AI-AANVULLING (standaard model)</a:t>
            </a:r>
          </a:p>
          <a:p>
            <a:r>
              <a:t>• Gebruikt het model zoals het na de volledige training staat.</a:t>
            </a:r>
          </a:p>
          <a:p>
            <a:r>
              <a:t>• Het model is getraind op honderden Bach-werken van hetzelfde genre.</a:t>
            </a:r>
          </a:p>
          <a:p>
            <a:r>
              <a:t>• Het model kent de algemene Bach-stijl, maar weet niets specifiek over dit ene stuk.</a:t>
            </a:r>
          </a:p>
          <a:p>
            <a:r>
              <a:t>• Generatie is snel: geen extra training nodig.</a:t>
            </a:r>
          </a:p>
          <a:p/>
          <a:p>
            <a:r>
              <a:t>FINE-TUNED (bijgetraind op eerste helft)</a:t>
            </a:r>
          </a:p>
          <a:p>
            <a:r>
              <a:t>• Maakt een DIEPE KOPIE van het getrainde model.</a:t>
            </a:r>
          </a:p>
          <a:p>
            <a:r>
              <a:t>• Past het model nog 8 epochs bij op uitsluitend de tokens van de eerste helft van dit specifieke stuk (Adam optimizer, lr=2e-3).</a:t>
            </a:r>
          </a:p>
          <a:p>
            <a:r>
              <a:t>• Het model 'leert' de stijl van dit concrete stuk: zijn toonaard, melodische motieven, ritmepatronen.</a:t>
            </a:r>
          </a:p>
          <a:p>
            <a:r>
              <a:t>• Daarna genereert het de tweede helft — nu met die specifieke kennis.</a:t>
            </a:r>
          </a:p>
          <a:p>
            <a:r>
              <a:t>• Gevolg: hogere gelijkenis-scores, maar risico op overtraining op de eerste helft (te weinig variatie).</a:t>
            </a:r>
          </a:p>
          <a:p/>
          <a:p>
            <a:r>
              <a:t>ANALOGIE</a:t>
            </a:r>
          </a:p>
          <a:p>
            <a:r>
              <a:t>AI-aanvulling = een algemeen opgeleide componist die 'in de stijl van Bach' schrijft.</a:t>
            </a:r>
          </a:p>
          <a:p>
            <a:r>
              <a:t>Fine-tuned = dezelfde componist die het stuk eerst intensief bestudeert voordat hij de tweede helft schrijft.</a:t>
            </a:r>
          </a:p>
          <a:p/>
          <a:p>
            <a:r>
              <a:t>TECHNISCHE DETAILS FINE-TUNING</a:t>
            </a:r>
          </a:p>
          <a:p>
            <a:r>
              <a:t>• deepcopy(model) zodat het originele model intact blijft.</a:t>
            </a:r>
          </a:p>
          <a:p>
            <a:r>
              <a:t>• Alleen de eerste-helft-tokens als training (X[i] = venster, y[i] = volgende token).</a:t>
            </a:r>
          </a:p>
          <a:p>
            <a:r>
              <a:t>• 8 epochs is bewust beperkt: meer epochs → overtraining → te letterlijk kopiëren.</a:t>
            </a:r>
          </a:p>
          <a:p>
            <a:r>
              <a:t>• lr=2e-3 is hoger dan de initiële training (typisch 1e-3) voor snellere aanpassing.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SAMPLING-PARAMETERS: uitgebreide toelichting</a:t>
            </a:r>
          </a:p>
          <a:p/>
          <a:p>
            <a:r>
              <a:t>TEMPERATUUR (T)</a:t>
            </a:r>
          </a:p>
          <a:p>
            <a:r>
              <a:t>Vóór het samplen worden de logits (ruwe modeluitvoer) gedeeld door T:</a:t>
            </a:r>
          </a:p>
          <a:p>
            <a:r>
              <a:t>    probs = softmax(logits / T)</a:t>
            </a:r>
          </a:p>
          <a:p/>
          <a:p>
            <a:r>
              <a:t>T &lt; 1.0 — SCHERPE verdeling:</a:t>
            </a:r>
          </a:p>
          <a:p>
            <a:r>
              <a:t>• De hoogst-gewogen tokens krijgen nog meer gewicht.</a:t>
            </a:r>
          </a:p>
          <a:p>
            <a:r>
              <a:t>• Het model kiest bijna altijd de meest waarschijnlijke noot.</a:t>
            </a:r>
          </a:p>
          <a:p>
            <a:r>
              <a:t>• Klinkt 'bach-achtig', maar kan eentonig worden (veel herhalingen).</a:t>
            </a:r>
          </a:p>
          <a:p>
            <a:r>
              <a:t>• Aanbevolen: T = 0.5–0.8 voor koralen en eenvoudige melodieën.</a:t>
            </a:r>
          </a:p>
          <a:p/>
          <a:p>
            <a:r>
              <a:t>T &gt; 1.0 — VLAKKE verdeling:</a:t>
            </a:r>
          </a:p>
          <a:p>
            <a:r>
              <a:t>• Alle tokens krijgen bijna even veel kans.</a:t>
            </a:r>
          </a:p>
          <a:p>
            <a:r>
              <a:t>• Het model maakt verrassendere, maar ook minder coherente keuzes.</a:t>
            </a:r>
          </a:p>
          <a:p>
            <a:r>
              <a:t>• Klinkt creatiever maar kan uit de toonaard gaan.</a:t>
            </a:r>
          </a:p>
          <a:p>
            <a:r>
              <a:t>• Aanbevolen: T = 1.0–1.3 voor experimentele generatie.</a:t>
            </a:r>
          </a:p>
          <a:p/>
          <a:p>
            <a:r>
              <a:t>TOP-K FILTERING</a:t>
            </a:r>
          </a:p>
          <a:p>
            <a:r>
              <a:t>Vóór de temperatuurscaling worden alle tokens buiten de top-k gemaskeerd:</a:t>
            </a:r>
          </a:p>
          <a:p>
            <a:r>
              <a:t>    grens = topk(logits, k).values[-1]</a:t>
            </a:r>
          </a:p>
          <a:p>
            <a:r>
              <a:t>    logits[logits &lt; grens] = -inf</a:t>
            </a:r>
          </a:p>
          <a:p/>
          <a:p>
            <a:r>
              <a:t>k = 0: geen filtering, alle tokens in het vocabulaire zijn mogelijk.</a:t>
            </a:r>
          </a:p>
          <a:p>
            <a:r>
              <a:t>k = 5: alleen de 5 meest waarschijnlijke tokens worden overwogen.</a:t>
            </a:r>
          </a:p>
          <a:p>
            <a:r>
              <a:t>k = 10: goede balans tussen variatie en coherentie (aanbevolen standaard).</a:t>
            </a:r>
          </a:p>
          <a:p/>
          <a:p>
            <a:r>
              <a:t>COMBINATIE-EFFECTEN</a:t>
            </a:r>
          </a:p>
          <a:p>
            <a:r>
              <a:t>• Lage T + lage k: meest deterministisch, Bach-achtig, weinig variatie.</a:t>
            </a:r>
          </a:p>
          <a:p>
            <a:r>
              <a:t>• Lage T + hoge k: melodieus en gevarieerd, toonaard blijft stabiel.</a:t>
            </a:r>
          </a:p>
          <a:p>
            <a:r>
              <a:t>• Hoge T + lage k: ritmisch spannend door temperatuur, maar toonaard   beschermd door k-filtering.</a:t>
            </a:r>
          </a:p>
          <a:p>
            <a:r>
              <a:t>• Hoge T + hoge k: maximale creatieve vrijheid, kan klinken als willekeurig.</a:t>
            </a:r>
          </a:p>
          <a:p/>
          <a:p>
            <a:r>
              <a:t>PRAKTISCH ADVIES</a:t>
            </a:r>
          </a:p>
          <a:p>
            <a:r>
              <a:t>Begin met T=0.8, k=10. Verhoog T als het te saai klinkt, verlaag k als het te chaotisch wordt. Het toonaard-filter (in AI-aanvulling) beschermt altijd tegen compleet verkeerde noten.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VAN TOKENS NAAR GELUID: uitgebreide toelichting</a:t>
            </a:r>
          </a:p>
          <a:p/>
          <a:p>
            <a:r>
              <a:t>STAP 1: music21-object bouwen</a:t>
            </a:r>
          </a:p>
          <a:p>
            <a:r>
              <a:t>Na de generatie heeft het model een lijst van (pitch, duur)-tokens per stem (Soprano, Alto, Tenor, Bass). Deze worden omgezet naar music21 Note-objecten en ingevoegd in aparte Part-objecten, startend op de exacte splitsingsmaat (het punt waar de originele eerste helft eindigt).</a:t>
            </a:r>
          </a:p>
          <a:p>
            <a:r>
              <a:t>Tempo-informatie: de MetronomeMark van het originele stuk wordt gekopieerd zodat de gegenereerde muziek even snel speelt als het origineel. Zonder dit zou de standaard 120 BPM gebruikt worden, wat klinkt als te snel.</a:t>
            </a:r>
          </a:p>
          <a:p/>
          <a:p>
            <a:r>
              <a:t>STAP 2: schrijven naar geheugen (geen schijfbestand)</a:t>
            </a:r>
          </a:p>
          <a:p>
            <a:r>
              <a:t>music21 exporteert naar MIDI via MidiFile en writestr(). Dit schrijft de bytes rechtstreeks naar een BytesIO-object in RAM, nooit naar de harde schijf. Dit is sneller en vereist geen tijdelijke bestandspermissies.</a:t>
            </a:r>
          </a:p>
          <a:p/>
          <a:p>
            <a:r>
              <a:t>STAP 3: Base64-codering als data-URI</a:t>
            </a:r>
          </a:p>
          <a:p>
            <a:r>
              <a:t>De MIDI-bytes worden gecodeerd als Base64-string en verpakt in een:</a:t>
            </a:r>
          </a:p>
          <a:p>
            <a:r>
              <a:t>    data:audio/midi;base64,&lt;base64-string&gt;</a:t>
            </a:r>
          </a:p>
          <a:p>
            <a:r>
              <a:t>Deze data-URI wordt direct in de HTML van de Streamlit-pagina ingebed.</a:t>
            </a:r>
          </a:p>
          <a:p/>
          <a:p>
            <a:r>
              <a:t>STAP 4: html-midi-player in de browser</a:t>
            </a:r>
          </a:p>
          <a:p>
            <a:r>
              <a:t>De html-midi-player bibliotheek (gebaseerd op Magenta.js en Tone.js) leest de data-URI en rendert:</a:t>
            </a:r>
          </a:p>
          <a:p>
            <a:r>
              <a:t>• Een piano-roll (noten visueel als blokken op een tijdlijn)</a:t>
            </a:r>
          </a:p>
          <a:p>
            <a:r>
              <a:t>• Afspelen via de browser's Web Audio API (geen plugin nodig)</a:t>
            </a:r>
          </a:p>
          <a:p>
            <a:r>
              <a:t>• Een downloadknop voor het MIDI-bestand</a:t>
            </a:r>
          </a:p>
          <a:p/>
          <a:p>
            <a:r>
              <a:t>VOORDEEL VAN DEZE AANPAK</a:t>
            </a:r>
          </a:p>
          <a:p>
            <a:r>
              <a:t>Zodra de Streamlit-pagina geladen is, zijn er GEEN extra HTTP-verzoeken meer nodig voor het afspelen. Alles zit al in de HTML-pagina ingebed als data-URI. Dit maakt de app ook offline bruikbaar na de eerste laadbeurt.</a:t>
            </a:r>
          </a:p>
          <a:p/>
          <a:p>
            <a:r>
              <a:t>BEPERKING</a:t>
            </a:r>
          </a:p>
          <a:p>
            <a:r>
              <a:t>Grote MIDI-bestanden (lange stukken, 4 stemmen) kunnen grote Base64-strings genereren. Bij stukken van meer dan 200 maten kan de HTML-pagina traag laden.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VIER VARIANTEN: uitgebreide toelichting</a:t>
            </a:r>
          </a:p>
          <a:p/>
          <a:p>
            <a:r>
              <a:t>WAAROM VIER VERSIES?</a:t>
            </a:r>
          </a:p>
          <a:p>
            <a:r>
              <a:t>Door vier strategieën naast elkaar te zetten, meten we exact wat elke toevoeging (model, fine-tuning, vrije generatie) bijdraagt.</a:t>
            </a:r>
          </a:p>
          <a:p/>
          <a:p>
            <a:r>
              <a:t>1. AI-AANVULLING (blauw) — het basismodel</a:t>
            </a:r>
          </a:p>
          <a:p>
            <a:r>
              <a:t>• Seed: de eerste helft van het stuk (N/2 maten).</a:t>
            </a:r>
          </a:p>
          <a:p>
            <a:r>
              <a:t>• Ritme: exact overgenomen van het origineel (duurslots gekopieerd).</a:t>
            </a:r>
          </a:p>
          <a:p>
            <a:r>
              <a:t>• Toonaard-filter: actief — Krumhansl-Schmuckler detecteert de toonaard uit de eerste helft en filtert alleen toegestane pitchklassen.</a:t>
            </a:r>
          </a:p>
          <a:p>
            <a:r>
              <a:t>• Model: het getrainde LSTM zonder wijzigingen.</a:t>
            </a:r>
          </a:p>
          <a:p>
            <a:r>
              <a:t>• Verwachte score: middelmatig tot goed (50–75%).</a:t>
            </a:r>
          </a:p>
          <a:p>
            <a:r>
              <a:t>• Sterkste kant: toonsoort is gegarandeerd correct (filter).</a:t>
            </a:r>
          </a:p>
          <a:p/>
          <a:p>
            <a:r>
              <a:t>2. FINE-TUNED (groen) — modelaanpassing</a:t>
            </a:r>
          </a:p>
          <a:p>
            <a:r>
              <a:t>• Zelfde aanpak als AI-aanvulling, maar het model is eerst 8 epochs bijgetraind op uitsluitend de tokens van de eerste helft van dit stuk.</a:t>
            </a:r>
          </a:p>
          <a:p>
            <a:r>
              <a:t>• Adam lr=2e-3, deepcopy zodat het originele model intact blijft.</a:t>
            </a:r>
          </a:p>
          <a:p>
            <a:r>
              <a:t>• Het model 'leert' de stijl van dit specifieke stuk: zijn motieven, toonaard en ritmische patronen.</a:t>
            </a:r>
          </a:p>
          <a:p>
            <a:r>
              <a:t>• Verwachte score: 5–15% beter dan AI-aanvulling.</a:t>
            </a:r>
          </a:p>
          <a:p>
            <a:r>
              <a:t>• Risico: bij heel korte stukken kan overtraining optreden.</a:t>
            </a:r>
          </a:p>
          <a:p/>
          <a:p>
            <a:r>
              <a:t>3. BACH-STIJL (paars) — vrije generatie</a:t>
            </a:r>
          </a:p>
          <a:p>
            <a:r>
              <a:t>• Seed: alleen de eerste 4 maten (kortere context).</a:t>
            </a:r>
          </a:p>
          <a:p>
            <a:r>
              <a:t>• Ritme: het model genereert het ritme ZELF (via kansgewogen sampling over duurverdeling, gemarginaliseerd over pitches).</a:t>
            </a:r>
          </a:p>
          <a:p>
            <a:r>
              <a:t>• Toonaard: geen filter — het model bepaalt volledig vrij welke noten.</a:t>
            </a:r>
          </a:p>
          <a:p>
            <a:r>
              <a:t>• Model: het getrainde LSTM zonder wijzigingen.</a:t>
            </a:r>
          </a:p>
          <a:p>
            <a:r>
              <a:t>• Dit is de meest creatieve modus: het model schrijft zowel melodie als ritme.</a:t>
            </a:r>
          </a:p>
          <a:p>
            <a:r>
              <a:t>• Verwachte score: vergelijkbaar met AI-aanvulling, soms lager doordat de kortere seed minder context geeft en er geen toonaard-filter is.</a:t>
            </a:r>
          </a:p>
          <a:p/>
          <a:p>
            <a:r>
              <a:t>4. WILLEKEURIG (rood) — de nulhypothese</a:t>
            </a:r>
          </a:p>
          <a:p>
            <a:r>
              <a:t>• Geen model, geen leren, geen intelligentie.</a:t>
            </a:r>
          </a:p>
          <a:p>
            <a:r>
              <a:t>• Per duurslot: uniforme random sampling uit het VOLLEDIGE vocabulaire.</a:t>
            </a:r>
          </a:p>
          <a:p>
            <a:r>
              <a:t>• Ritme: gekopieerd van het origineel.</a:t>
            </a:r>
          </a:p>
          <a:p>
            <a:r>
              <a:t>• Als AI-aanvulling niet significant hoger scoort dan Willekeurig, voegt het model niets toe.</a:t>
            </a:r>
          </a:p>
          <a:p>
            <a:r>
              <a:t>• Verwachte score: laag (20–35%).</a:t>
            </a:r>
          </a:p>
          <a:p/>
          <a:p>
            <a:r>
              <a:t>VERGELIJKINGSMETHODE</a:t>
            </a:r>
          </a:p>
          <a:p>
            <a:r>
              <a:t>Alle versies worden vergeleken met de tweede helft van het origineel. De gedeelde eerste helft wordt weggelaten zodat de scores de werkelijke generatiekwaliteit meten, niet de herkenning van de seed. Voor Bach-stijl is de split-offset later (na 4 maten), dus worden de maten 5–einde vergeleken met dezelfde maten van het origineel.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4 MUZIKALE METRICS: uitgebreide toelichting</a:t>
            </a:r>
          </a:p>
          <a:p/>
          <a:p>
            <a:r>
              <a:t>WAAROM NIET GEWOON LEVENSHTEIN?</a:t>
            </a:r>
          </a:p>
          <a:p>
            <a:r>
              <a:t>Levenshtein op absolute MIDI-pitches is te streng: één halve toon verschil telt als een volledige fout, ook al klinkt de noot correct in de toonaard. Muzikale gelijkenis gaat over toonsoort, melodische beweging en harmoniek, niet over exacte noot-voor-noot overeenkomst.</a:t>
            </a:r>
          </a:p>
          <a:p/>
          <a:p>
            <a:r>
              <a:t>1. CHROMA (blauw) — toonklasse-profiel</a:t>
            </a:r>
          </a:p>
          <a:p>
            <a:r>
              <a:t>• Elke noot wordt herleid tot zijn toonklasse (C=0, C#=1, ... B=11) via pitch mod 12. Octaaf-informatie gaat verloren.</a:t>
            </a:r>
          </a:p>
          <a:p>
            <a:r>
              <a:t>• Een 12-dimensionale vector telt hoe vaak elke toonklasse voorkomt.</a:t>
            </a:r>
          </a:p>
          <a:p>
            <a:r>
              <a:t>• Cosinus-gelijkenis tussen de twee vectoren.</a:t>
            </a:r>
          </a:p>
          <a:p>
            <a:r>
              <a:t>• WAT HET MEET: hoe goed de toonsoort overeenkomt. Als het origineel in G-majeur is en de AI ook G-majeur kiest, is de Chroma-score hoog.</a:t>
            </a:r>
          </a:p>
          <a:p>
            <a:r>
              <a:t>• BEPERKING: twee stukken in dezelfde toonsoort maar met andere melodieën kunnen toch een hoge score halen.</a:t>
            </a:r>
          </a:p>
          <a:p/>
          <a:p>
            <a:r>
              <a:t>2. INTERVALLEN (groen) — melodische beweging</a:t>
            </a:r>
          </a:p>
          <a:p>
            <a:r>
              <a:t>• Berekent de intervallen tussen opeenvolgende noten: noot[i+1] - noot[i].</a:t>
            </a:r>
          </a:p>
          <a:p>
            <a:r>
              <a:t>• Bereik: −12 t/m +12 halve tonen (25 bins).</a:t>
            </a:r>
          </a:p>
          <a:p>
            <a:r>
              <a:t>• Cosinus-gelijkenis op de interval-histogrammen.</a:t>
            </a:r>
          </a:p>
          <a:p>
            <a:r>
              <a:t>• WAT HET MEET: beweegt de melodie op dezelfde manier? Stapgewijs of met grote sprongen? Dit is transpositie-invariant: een melodie in C en dezelfde melodie in G scoren hoog.</a:t>
            </a:r>
          </a:p>
          <a:p>
            <a:r>
              <a:t>• BEPERKING: volgorde van intervallen wordt niet gemeten, enkel de frequentieverdeling.</a:t>
            </a:r>
          </a:p>
          <a:p/>
          <a:p>
            <a:r>
              <a:t>3. N-GRAM / TRIGRAM (amber) — lokale melodische patronen</a:t>
            </a:r>
          </a:p>
          <a:p>
            <a:r>
              <a:t>• Alle opeenvolgende drietallen van toonklassen worden geteld.</a:t>
            </a:r>
          </a:p>
          <a:p>
            <a:r>
              <a:t>  Bijv. (C, E, G), (E, G, A), ... → trigram-vectoren.</a:t>
            </a:r>
          </a:p>
          <a:p>
            <a:r>
              <a:t>• Cosinus-gelijkenis tussen de twee trigram-vectoren.</a:t>
            </a:r>
          </a:p>
          <a:p>
            <a:r>
              <a:t>• WAT HET MEET: korte melodische frasen en motieven. Als Bach typisch de frase (do, re, mi) gebruikt en de AI ook, scoort dit hoog.</a:t>
            </a:r>
          </a:p>
          <a:p>
            <a:r>
              <a:t>• STERKSTE metric voor 'klinkt het als Bach': het model moet dezelfde korte patronen leren als in het origineel.</a:t>
            </a:r>
          </a:p>
          <a:p/>
          <a:p>
            <a:r>
              <a:t>4. AKKOORDEN / JACCARD (paars) — harmonisch vocabulaire</a:t>
            </a:r>
          </a:p>
          <a:p>
            <a:r>
              <a:t>• Akkoorden worden geëxtraheerd via music21's chordify(): alle noten op hetzelfde tijdstip worden samengevoegd.</a:t>
            </a:r>
          </a:p>
          <a:p>
            <a:r>
              <a:t>• Elk akkoord wordt voorgesteld als een frozenset van toonklassen (transpositie-invariant).</a:t>
            </a:r>
          </a:p>
          <a:p>
            <a:r>
              <a:t>• Jaccard-index: |gemeenschappelijke akkoorden| / |totale unieke akkoorden|.</a:t>
            </a:r>
          </a:p>
          <a:p>
            <a:r>
              <a:t>• WAT HET MEET: gebruikt de AI hetzelfde harmonische vocabulaire als Bach? Dezelfde akkoordtypes (drieklank, septiemakkoord, etc.)?</a:t>
            </a:r>
          </a:p>
          <a:p>
            <a:r>
              <a:t>• BEPERKING: gevoelig voor de duur van akkoorden (snelle wisselingen genereren meer unieke frozensets).</a:t>
            </a:r>
          </a:p>
          <a:p/>
          <a:p>
            <a:r>
              <a:t>EINDSCORES</a:t>
            </a:r>
          </a:p>
          <a:p>
            <a:r>
              <a:t>Alle vier scores worden gemiddeld tot één totaalscore. Radar-diagram toont sterktes en zwaktes per dimensie. Tabel toont alle vier scores kleurgecodeerd van rood (laag) naar groen (hoog).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SAMENVATTING: wat te zeggen</a:t>
            </a:r>
          </a:p>
          <a:p/>
          <a:p>
            <a:r>
              <a:t>DATAPIPELINE</a:t>
            </a:r>
          </a:p>
          <a:p>
            <a:r>
              <a:t>Het systeem is volledig zelfvoorzienend: bij het eerste gebruik worden 400+ Bach-werken automatisch gedownload via de music21 corpus-API. De MIDI-bestanden worden geparsed naar (pitch, duur)-tokens en opgeslagen in een CSV met metadata (genre, aantal maten, aantal stemmen). Dit gebeurt transparant op de achtergrond — de gebruiker ziet alleen een voortgangsbericht in de Streamlit-app.</a:t>
            </a:r>
          </a:p>
          <a:p/>
          <a:p>
            <a:r>
              <a:t>LSTM-MODEL</a:t>
            </a:r>
          </a:p>
          <a:p>
            <a:r>
              <a:t>Het model is een klassiek LSTM-taalmodel: gegeven de laatste N tokens, voorspel het volgende token. De architectuur is eenvoudig maar effectief: Embedding (64 dim) → LSTM (2 lagen, 256 hidden) → Dropout (0.3) → Linear → Softmax. Alle hyperparameters zijn instelbaar via de UI zonder code aan te passen. Training duurt 5–30 minuten afhankelijk van het genre en de hardware (GPU-ondersteuning ingebouwd).</a:t>
            </a:r>
          </a:p>
          <a:p/>
          <a:p>
            <a:r>
              <a:t>VIER GENERATIEMODI</a:t>
            </a:r>
          </a:p>
          <a:p>
            <a:r>
              <a:t>• AI-aanvulling: het meest gecontroleerd. Ritme exact overgenomen,   toonaard gegarandeerd via Krumhansl-Schmuckler filter.</a:t>
            </a:r>
          </a:p>
          <a:p>
            <a:r>
              <a:t>• Fine-tuned: het model leert 8 epochs op de seed. Hogere scores   maar risico op overtraining bij korte stukken.</a:t>
            </a:r>
          </a:p>
          <a:p>
            <a:r>
              <a:t>• Bach-stijl: maximale vrijheid. Model genereert ritme én melodie zelf.   Kortere seed (4 maten), geen toonaard-filter.</a:t>
            </a:r>
          </a:p>
          <a:p>
            <a:r>
              <a:t>• Willekeurig: de nulhypothese. Laat zien wat 'niets leren' oplevert.</a:t>
            </a:r>
          </a:p>
          <a:p/>
          <a:p>
            <a:r>
              <a:t>VERGELIJKING</a:t>
            </a:r>
          </a:p>
          <a:p>
            <a:r>
              <a:t>De vier metrics meten elk een andere dimensie van muzikale gelijkenis: toonsoort (Chroma), melodische beweging (Intervallen), frasen (N-gram) en harmoniek (Akkoorden). Door enkel het gegenereerde deel te vergelijken (niet de seed), zijn de scores eerlijk: de AI-aanvulling en Willekeurig beginnen op gelijke voet.</a:t>
            </a:r>
          </a:p>
          <a:p/>
          <a:p>
            <a:r>
              <a:t>CONCLUSIE</a:t>
            </a:r>
          </a:p>
          <a:p>
            <a:r>
              <a:t>Fine-tuned &gt; AI-aanvulling &gt; Bach-stijl &gt;&gt; Willekeurig (in de meeste gevallen).</a:t>
            </a:r>
          </a:p>
          <a:p>
            <a:r>
              <a:t>Het model leert stijl, maar geen structuur op lange termijn. De gegenereerde muziek klinkt lokaal Bach-achtig maar mist de grote architectonische opbouw van een echt koraal.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REFLECTIE &amp; VERVOLGWERK: wat te zeggen</a:t>
            </a:r>
          </a:p>
          <a:p/>
          <a:p>
            <a:r>
              <a:t>WAT WERKT GOED</a:t>
            </a:r>
          </a:p>
          <a:p>
            <a:r>
              <a:t>• Toonaard: de Krumhansl-Schmuckler analyse detecteert betrouwbaar de toonaard van de eerste helft. Hierdoor blijft de AI-aanvulling in de juiste toonaard — de Chroma-score is systematisch hoger dan Willekeurig.</a:t>
            </a:r>
          </a:p>
          <a:p>
            <a:r>
              <a:t>• Fine-tuning: zelfs 8 epochs op de eerste helft is genoeg om de melodische motieven van het stuk te leren. De N-gram en Akkoorden-score gaan beide omhoog ten opzichte van de standaard AI-aanvulling.</a:t>
            </a:r>
          </a:p>
          <a:p>
            <a:r>
              <a:t>• Ritme: door het originele ritme exact over te nemen in de aanvullingsmodus klinkt de tweede helft ritmisch coherent. Dit is een bewuste keuze die de vergelijkbaarheid ook verbetert.</a:t>
            </a:r>
          </a:p>
          <a:p>
            <a:r>
              <a:t>• Pipeline: het systeem is end-to-end geautomatiseerd. Een nieuwe gebruiker kan binnen 5 minuten Bach-muziek laten genereren zonder enige kennis van muziek of machine learning.</a:t>
            </a:r>
          </a:p>
          <a:p/>
          <a:p>
            <a:r>
              <a:t>WAT KAN BETER</a:t>
            </a:r>
          </a:p>
          <a:p>
            <a:r>
              <a:t>• Lange-termijnstructuur: LSTM's 'vergeten' na 16–32 tokens. De gegenereerde muziek klinkt lokaal correct maar mist de grote structuur van een echt koraal (herhaling van frasen, cadentie op de juiste plek, terugkeer naar de hoofdtoonaard).</a:t>
            </a:r>
          </a:p>
          <a:p>
            <a:r>
              <a:t>  → Oplossing: Transformer met attention over de volledige context.</a:t>
            </a:r>
          </a:p>
          <a:p/>
          <a:p>
            <a:r>
              <a:t>• Meerstemmigheid: nu worden de 4 stemmen ONAFHANKELIJK gegenereerd. Dit betekent dat er soms parallele kwinten of octaven ontstaan die in de klassieke contrapuntleer verboden zijn.</a:t>
            </a:r>
          </a:p>
          <a:p>
            <a:r>
              <a:t>  → Oplossing: alle stemmen tegelijk modelleren als één tokenreeks   (interleaved: S, A, T, B, S, A, T, B, ...).</a:t>
            </a:r>
          </a:p>
          <a:p/>
          <a:p>
            <a:r>
              <a:t>• Dataset: het model is getraind op 400 werken. Bach schreef 1000+ werken inclusief orgelwerken, klavierwerken en orkestwerken. Een groter en diverser corpus zou het model robuuster maken.</a:t>
            </a:r>
          </a:p>
          <a:p/>
          <a:p>
            <a:r>
              <a:t>• RLHF (Reinforcement Learning from Human Feedback): objectieve metrics meten gelijkenis, maar niet of de muziek mooi klinkt. Menselijke feedback als beloningssignaal zou de perceptuele kwaliteit kunnen verbeteren.</a:t>
            </a:r>
          </a:p>
          <a:p/>
          <a:p>
            <a:r>
              <a:t>• Evaluatie: de huidige metrics zijn automatisch. Ideaal wordt de gegenereerde muziek beoordeeld door muzikanten en musicologen.</a:t>
            </a:r>
          </a:p>
          <a:p/>
          <a:p>
            <a:r>
              <a:t>LIVE DEMO</a:t>
            </a:r>
          </a:p>
          <a:p>
            <a:r>
              <a:t>Open de terminal en draai: streamlit run app.py</a:t>
            </a:r>
          </a:p>
          <a:p>
            <a:r>
              <a:t>Selecteer een Bach-werk, kies een model, stel temperatuur in en klik 'Genereer aanvulling'. De vier versies worden gegenereerd en vergeleken. Vervolgens kan de MIDI gedownload worden.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0" cy="6858000"/>
          </a:xfrm>
          <a:prstGeom prst="rect">
            <a:avLst/>
          </a:prstGeom>
          <a:solidFill>
            <a:srgbClr val="0C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548640"/>
            <a:ext cx="1828800" cy="1097280"/>
          </a:xfrm>
          <a:prstGeom prst="rect">
            <a:avLst/>
          </a:prstGeom>
          <a:noFill/>
        </p:spPr>
        <p:txBody>
          <a:bodyPr wrap="square">
            <a:spAutoFit/>
          </a:bodyPr>
          <a:lstStyle/>
          <a:p>
            <a:pPr algn="ctr"/>
            <a:r>
              <a:rPr sz="6000" b="0" i="0">
                <a:solidFill>
                  <a:srgbClr val="E2E8F0"/>
                </a:solidFill>
                <a:latin typeface="Segoe UI"/>
              </a:rPr>
              <a:t>🎵</a:t>
            </a:r>
          </a:p>
        </p:txBody>
      </p:sp>
      <p:sp>
        <p:nvSpPr>
          <p:cNvPr id="5" name="TextBox 4"/>
          <p:cNvSpPr txBox="1"/>
          <p:nvPr/>
        </p:nvSpPr>
        <p:spPr>
          <a:xfrm>
            <a:off x="914400" y="1645920"/>
            <a:ext cx="10332720" cy="1280160"/>
          </a:xfrm>
          <a:prstGeom prst="rect">
            <a:avLst/>
          </a:prstGeom>
          <a:noFill/>
        </p:spPr>
        <p:txBody>
          <a:bodyPr wrap="square">
            <a:spAutoFit/>
          </a:bodyPr>
          <a:lstStyle/>
          <a:p>
            <a:pPr algn="ctr"/>
            <a:r>
              <a:rPr sz="5200" b="1" i="0">
                <a:solidFill>
                  <a:srgbClr val="38BDF8"/>
                </a:solidFill>
                <a:latin typeface="Segoe UI"/>
              </a:rPr>
              <a:t>Muziekvoorspellen</a:t>
            </a:r>
          </a:p>
        </p:txBody>
      </p:sp>
      <p:sp>
        <p:nvSpPr>
          <p:cNvPr id="6" name="TextBox 5"/>
          <p:cNvSpPr txBox="1"/>
          <p:nvPr/>
        </p:nvSpPr>
        <p:spPr>
          <a:xfrm>
            <a:off x="1828800" y="2926080"/>
            <a:ext cx="8503920" cy="548640"/>
          </a:xfrm>
          <a:prstGeom prst="rect">
            <a:avLst/>
          </a:prstGeom>
          <a:noFill/>
        </p:spPr>
        <p:txBody>
          <a:bodyPr wrap="square">
            <a:spAutoFit/>
          </a:bodyPr>
          <a:lstStyle/>
          <a:p>
            <a:pPr algn="ctr"/>
            <a:r>
              <a:rPr sz="1800" b="0" i="0">
                <a:solidFill>
                  <a:srgbClr val="94A3B8"/>
                </a:solidFill>
                <a:latin typeface="Segoe UI"/>
              </a:rPr>
              <a:t>Bach-muziek aanvullen met een LSTM-taalmodel</a:t>
            </a:r>
          </a:p>
        </p:txBody>
      </p:sp>
      <p:sp>
        <p:nvSpPr>
          <p:cNvPr id="7" name="Rectangle 6"/>
          <p:cNvSpPr/>
          <p:nvPr/>
        </p:nvSpPr>
        <p:spPr>
          <a:xfrm>
            <a:off x="2560320" y="3749039"/>
            <a:ext cx="1645920" cy="38404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0" y="3767328"/>
            <a:ext cx="1645920" cy="365760"/>
          </a:xfrm>
          <a:prstGeom prst="rect">
            <a:avLst/>
          </a:prstGeom>
          <a:noFill/>
        </p:spPr>
        <p:txBody>
          <a:bodyPr wrap="square">
            <a:spAutoFit/>
          </a:bodyPr>
          <a:lstStyle/>
          <a:p>
            <a:pPr algn="ctr"/>
            <a:r>
              <a:rPr sz="1200" b="1" i="0">
                <a:solidFill>
                  <a:srgbClr val="0F172A"/>
                </a:solidFill>
                <a:latin typeface="Segoe UI"/>
              </a:rPr>
              <a:t>PyTorch</a:t>
            </a:r>
          </a:p>
        </p:txBody>
      </p:sp>
      <p:sp>
        <p:nvSpPr>
          <p:cNvPr id="9" name="Rectangle 8"/>
          <p:cNvSpPr/>
          <p:nvPr/>
        </p:nvSpPr>
        <p:spPr>
          <a:xfrm>
            <a:off x="4389120" y="3749039"/>
            <a:ext cx="1645920" cy="3840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3767328"/>
            <a:ext cx="1645920" cy="365760"/>
          </a:xfrm>
          <a:prstGeom prst="rect">
            <a:avLst/>
          </a:prstGeom>
          <a:noFill/>
        </p:spPr>
        <p:txBody>
          <a:bodyPr wrap="square">
            <a:spAutoFit/>
          </a:bodyPr>
          <a:lstStyle/>
          <a:p>
            <a:pPr algn="ctr"/>
            <a:r>
              <a:rPr sz="1200" b="1" i="0">
                <a:solidFill>
                  <a:srgbClr val="0F172A"/>
                </a:solidFill>
                <a:latin typeface="Segoe UI"/>
              </a:rPr>
              <a:t>music21</a:t>
            </a:r>
          </a:p>
        </p:txBody>
      </p:sp>
      <p:sp>
        <p:nvSpPr>
          <p:cNvPr id="11" name="Rectangle 10"/>
          <p:cNvSpPr/>
          <p:nvPr/>
        </p:nvSpPr>
        <p:spPr>
          <a:xfrm>
            <a:off x="6217920" y="3749039"/>
            <a:ext cx="1645920" cy="38404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3767328"/>
            <a:ext cx="1645920" cy="365760"/>
          </a:xfrm>
          <a:prstGeom prst="rect">
            <a:avLst/>
          </a:prstGeom>
          <a:noFill/>
        </p:spPr>
        <p:txBody>
          <a:bodyPr wrap="square">
            <a:spAutoFit/>
          </a:bodyPr>
          <a:lstStyle/>
          <a:p>
            <a:pPr algn="ctr"/>
            <a:r>
              <a:rPr sz="1200" b="1" i="0">
                <a:solidFill>
                  <a:srgbClr val="0F172A"/>
                </a:solidFill>
                <a:latin typeface="Segoe UI"/>
              </a:rPr>
              <a:t>Streamlit</a:t>
            </a:r>
          </a:p>
        </p:txBody>
      </p:sp>
      <p:sp>
        <p:nvSpPr>
          <p:cNvPr id="13" name="Rectangle 12"/>
          <p:cNvSpPr/>
          <p:nvPr/>
        </p:nvSpPr>
        <p:spPr>
          <a:xfrm>
            <a:off x="8046720" y="3749039"/>
            <a:ext cx="1645920"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3767328"/>
            <a:ext cx="1645920" cy="365760"/>
          </a:xfrm>
          <a:prstGeom prst="rect">
            <a:avLst/>
          </a:prstGeom>
          <a:noFill/>
        </p:spPr>
        <p:txBody>
          <a:bodyPr wrap="square">
            <a:spAutoFit/>
          </a:bodyPr>
          <a:lstStyle/>
          <a:p>
            <a:pPr algn="ctr"/>
            <a:r>
              <a:rPr sz="1200" b="1" i="0">
                <a:solidFill>
                  <a:srgbClr val="0F172A"/>
                </a:solidFill>
                <a:latin typeface="Segoe UI"/>
              </a:rPr>
              <a:t>Bach-corpus</a:t>
            </a:r>
          </a:p>
        </p:txBody>
      </p:sp>
      <p:sp>
        <p:nvSpPr>
          <p:cNvPr id="15" name="TextBox 14"/>
          <p:cNvSpPr txBox="1"/>
          <p:nvPr/>
        </p:nvSpPr>
        <p:spPr>
          <a:xfrm>
            <a:off x="2743200" y="6217920"/>
            <a:ext cx="6675120" cy="365760"/>
          </a:xfrm>
          <a:prstGeom prst="rect">
            <a:avLst/>
          </a:prstGeom>
          <a:noFill/>
        </p:spPr>
        <p:txBody>
          <a:bodyPr wrap="square">
            <a:spAutoFit/>
          </a:bodyPr>
          <a:lstStyle/>
          <a:p>
            <a:pPr algn="ctr"/>
            <a:r>
              <a:rPr sz="1100" b="0" i="0">
                <a:solidFill>
                  <a:srgbClr val="475569"/>
                </a:solidFill>
                <a:latin typeface="Segoe UI"/>
              </a:rPr>
              <a:t>Kurt Maekelberghe  ·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De vraag</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Kan een neuraal netwerk de stijl van Bach leren?</a:t>
            </a:r>
          </a:p>
        </p:txBody>
      </p:sp>
      <p:sp>
        <p:nvSpPr>
          <p:cNvPr id="4" name="Rectangle 3"/>
          <p:cNvSpPr/>
          <p:nvPr/>
        </p:nvSpPr>
        <p:spPr>
          <a:xfrm>
            <a:off x="502920" y="1371600"/>
            <a:ext cx="11155680" cy="914400"/>
          </a:xfrm>
          <a:prstGeom prst="rect">
            <a:avLst/>
          </a:prstGeom>
          <a:solidFill>
            <a:srgbClr val="0E28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698480" cy="731520"/>
          </a:xfrm>
          <a:prstGeom prst="rect">
            <a:avLst/>
          </a:prstGeom>
          <a:noFill/>
        </p:spPr>
        <p:txBody>
          <a:bodyPr wrap="square">
            <a:spAutoFit/>
          </a:bodyPr>
          <a:lstStyle/>
          <a:p>
            <a:pPr algn="l"/>
            <a:r>
              <a:rPr sz="1500" b="0" i="1">
                <a:solidFill>
                  <a:srgbClr val="E2E8F0"/>
                </a:solidFill>
                <a:latin typeface="Segoe UI"/>
              </a:rPr>
              <a:t>Kan een neuraal netwerk de stijl van Bach leren — en een onafgemaakt werk muzikaal geloofwaardig aanvullen?</a:t>
            </a:r>
          </a:p>
        </p:txBody>
      </p:sp>
      <p:sp>
        <p:nvSpPr>
          <p:cNvPr id="6" name="Rectangle 5"/>
          <p:cNvSpPr/>
          <p:nvPr/>
        </p:nvSpPr>
        <p:spPr>
          <a:xfrm>
            <a:off x="502920" y="2423160"/>
            <a:ext cx="3566160" cy="320040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532888"/>
            <a:ext cx="3236976" cy="347472"/>
          </a:xfrm>
          <a:prstGeom prst="rect">
            <a:avLst/>
          </a:prstGeom>
          <a:noFill/>
        </p:spPr>
        <p:txBody>
          <a:bodyPr wrap="square">
            <a:spAutoFit/>
          </a:bodyPr>
          <a:lstStyle/>
          <a:p>
            <a:pPr algn="l"/>
            <a:r>
              <a:rPr sz="1400" b="1" i="0">
                <a:solidFill>
                  <a:srgbClr val="38BDF8"/>
                </a:solidFill>
                <a:latin typeface="Segoe UI"/>
              </a:rPr>
              <a:t>🎼  Aanvulling</a:t>
            </a:r>
          </a:p>
        </p:txBody>
      </p:sp>
      <p:sp>
        <p:nvSpPr>
          <p:cNvPr id="8" name="TextBox 7"/>
          <p:cNvSpPr txBox="1"/>
          <p:nvPr/>
        </p:nvSpPr>
        <p:spPr>
          <a:xfrm>
            <a:off x="667512" y="2898648"/>
            <a:ext cx="3236976" cy="2615184"/>
          </a:xfrm>
          <a:prstGeom prst="rect">
            <a:avLst/>
          </a:prstGeom>
          <a:noFill/>
        </p:spPr>
        <p:txBody>
          <a:bodyPr wrap="square">
            <a:spAutoFit/>
          </a:bodyPr>
          <a:lstStyle/>
          <a:p>
            <a:pPr algn="l"/>
            <a:r>
              <a:rPr sz="1100" b="0" i="0">
                <a:solidFill>
                  <a:srgbClr val="94A3B8"/>
                </a:solidFill>
                <a:latin typeface="Segoe UI"/>
              </a:rPr>
              <a:t>Eerste helft als seed, model vult de tweede helft aan met behoud van ritme en toonaard.</a:t>
            </a:r>
          </a:p>
        </p:txBody>
      </p:sp>
      <p:sp>
        <p:nvSpPr>
          <p:cNvPr id="9" name="Rectangle 8"/>
          <p:cNvSpPr/>
          <p:nvPr/>
        </p:nvSpPr>
        <p:spPr>
          <a:xfrm>
            <a:off x="4233672" y="2423160"/>
            <a:ext cx="3566160" cy="320040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98264" y="2532888"/>
            <a:ext cx="3236976" cy="347472"/>
          </a:xfrm>
          <a:prstGeom prst="rect">
            <a:avLst/>
          </a:prstGeom>
          <a:noFill/>
        </p:spPr>
        <p:txBody>
          <a:bodyPr wrap="square">
            <a:spAutoFit/>
          </a:bodyPr>
          <a:lstStyle/>
          <a:p>
            <a:pPr algn="l"/>
            <a:r>
              <a:rPr sz="1400" b="1" i="0">
                <a:solidFill>
                  <a:srgbClr val="A78BFA"/>
                </a:solidFill>
                <a:latin typeface="Segoe UI"/>
              </a:rPr>
              <a:t>🤖  Bach-stijl</a:t>
            </a:r>
          </a:p>
        </p:txBody>
      </p:sp>
      <p:sp>
        <p:nvSpPr>
          <p:cNvPr id="11" name="TextBox 10"/>
          <p:cNvSpPr txBox="1"/>
          <p:nvPr/>
        </p:nvSpPr>
        <p:spPr>
          <a:xfrm>
            <a:off x="4398264" y="2898648"/>
            <a:ext cx="3236976" cy="2615184"/>
          </a:xfrm>
          <a:prstGeom prst="rect">
            <a:avLst/>
          </a:prstGeom>
          <a:noFill/>
        </p:spPr>
        <p:txBody>
          <a:bodyPr wrap="square">
            <a:spAutoFit/>
          </a:bodyPr>
          <a:lstStyle/>
          <a:p>
            <a:pPr algn="l"/>
            <a:r>
              <a:rPr sz="1100" b="0" i="0">
                <a:solidFill>
                  <a:srgbClr val="94A3B8"/>
                </a:solidFill>
                <a:latin typeface="Segoe UI"/>
              </a:rPr>
              <a:t>Eerste 4 maten als seed, model genereert daarna volledig vrij — ritme én melodie.</a:t>
            </a:r>
          </a:p>
        </p:txBody>
      </p:sp>
      <p:sp>
        <p:nvSpPr>
          <p:cNvPr id="12" name="Rectangle 11"/>
          <p:cNvSpPr/>
          <p:nvPr/>
        </p:nvSpPr>
        <p:spPr>
          <a:xfrm>
            <a:off x="7964424" y="2423160"/>
            <a:ext cx="3566160" cy="320040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9016" y="2532888"/>
            <a:ext cx="3236976" cy="347472"/>
          </a:xfrm>
          <a:prstGeom prst="rect">
            <a:avLst/>
          </a:prstGeom>
          <a:noFill/>
        </p:spPr>
        <p:txBody>
          <a:bodyPr wrap="square">
            <a:spAutoFit/>
          </a:bodyPr>
          <a:lstStyle/>
          <a:p>
            <a:pPr algn="l"/>
            <a:r>
              <a:rPr sz="1400" b="1" i="0">
                <a:solidFill>
                  <a:srgbClr val="F59E0B"/>
                </a:solidFill>
                <a:latin typeface="Segoe UI"/>
              </a:rPr>
              <a:t>🎹  Meerstemmig</a:t>
            </a:r>
          </a:p>
        </p:txBody>
      </p:sp>
      <p:sp>
        <p:nvSpPr>
          <p:cNvPr id="14" name="TextBox 13"/>
          <p:cNvSpPr txBox="1"/>
          <p:nvPr/>
        </p:nvSpPr>
        <p:spPr>
          <a:xfrm>
            <a:off x="8129016" y="2898648"/>
            <a:ext cx="3236976" cy="2615184"/>
          </a:xfrm>
          <a:prstGeom prst="rect">
            <a:avLst/>
          </a:prstGeom>
          <a:noFill/>
        </p:spPr>
        <p:txBody>
          <a:bodyPr wrap="square">
            <a:spAutoFit/>
          </a:bodyPr>
          <a:lstStyle/>
          <a:p>
            <a:pPr algn="l"/>
            <a:r>
              <a:rPr sz="1100" b="0" i="0">
                <a:solidFill>
                  <a:srgbClr val="94A3B8"/>
                </a:solidFill>
                <a:latin typeface="Segoe UI"/>
              </a:rPr>
              <a:t>Elke stem (Soprano, Alto, Tenor, Bass) wordt onafhankelijk gegenereerd.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De pipeline</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Vier stappen van ruwe data naar gegenereerde muziek</a:t>
            </a:r>
          </a:p>
        </p:txBody>
      </p:sp>
      <p:sp>
        <p:nvSpPr>
          <p:cNvPr id="4" name="Rectangle 3"/>
          <p:cNvSpPr/>
          <p:nvPr/>
        </p:nvSpPr>
        <p:spPr>
          <a:xfrm>
            <a:off x="502920" y="1554480"/>
            <a:ext cx="2377440" cy="14630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4208"/>
            <a:ext cx="2377440" cy="274320"/>
          </a:xfrm>
          <a:prstGeom prst="rect">
            <a:avLst/>
          </a:prstGeom>
          <a:noFill/>
        </p:spPr>
        <p:txBody>
          <a:bodyPr wrap="square">
            <a:spAutoFit/>
          </a:bodyPr>
          <a:lstStyle/>
          <a:p>
            <a:pPr algn="ctr"/>
            <a:r>
              <a:rPr sz="900" b="1" i="0">
                <a:solidFill>
                  <a:srgbClr val="475569"/>
                </a:solidFill>
                <a:latin typeface="Segoe UI"/>
              </a:rPr>
              <a:t>STAP 1</a:t>
            </a:r>
          </a:p>
        </p:txBody>
      </p:sp>
      <p:sp>
        <p:nvSpPr>
          <p:cNvPr id="6" name="TextBox 5"/>
          <p:cNvSpPr txBox="1"/>
          <p:nvPr/>
        </p:nvSpPr>
        <p:spPr>
          <a:xfrm>
            <a:off x="502920" y="1901952"/>
            <a:ext cx="2377440" cy="502920"/>
          </a:xfrm>
          <a:prstGeom prst="rect">
            <a:avLst/>
          </a:prstGeom>
          <a:noFill/>
        </p:spPr>
        <p:txBody>
          <a:bodyPr wrap="square">
            <a:spAutoFit/>
          </a:bodyPr>
          <a:lstStyle/>
          <a:p>
            <a:pPr algn="ctr"/>
            <a:r>
              <a:rPr sz="1800" b="1" i="0">
                <a:solidFill>
                  <a:srgbClr val="E2E8F0"/>
                </a:solidFill>
                <a:latin typeface="Segoe UI"/>
              </a:rPr>
              <a:t>📥 Download</a:t>
            </a:r>
          </a:p>
        </p:txBody>
      </p:sp>
      <p:sp>
        <p:nvSpPr>
          <p:cNvPr id="7" name="TextBox 6"/>
          <p:cNvSpPr txBox="1"/>
          <p:nvPr/>
        </p:nvSpPr>
        <p:spPr>
          <a:xfrm>
            <a:off x="502920" y="2423160"/>
            <a:ext cx="2377440" cy="365760"/>
          </a:xfrm>
          <a:prstGeom prst="rect">
            <a:avLst/>
          </a:prstGeom>
          <a:noFill/>
        </p:spPr>
        <p:txBody>
          <a:bodyPr wrap="square">
            <a:spAutoFit/>
          </a:bodyPr>
          <a:lstStyle/>
          <a:p>
            <a:pPr algn="ctr"/>
            <a:r>
              <a:rPr sz="1100" b="0" i="0">
                <a:solidFill>
                  <a:srgbClr val="38BDF8"/>
                </a:solidFill>
                <a:latin typeface="Segoe UI"/>
              </a:rPr>
              <a:t>download_bach.py</a:t>
            </a:r>
          </a:p>
        </p:txBody>
      </p:sp>
      <p:sp>
        <p:nvSpPr>
          <p:cNvPr id="8" name="TextBox 7"/>
          <p:cNvSpPr txBox="1"/>
          <p:nvPr/>
        </p:nvSpPr>
        <p:spPr>
          <a:xfrm>
            <a:off x="2880360" y="2057400"/>
            <a:ext cx="475488" cy="457200"/>
          </a:xfrm>
          <a:prstGeom prst="rect">
            <a:avLst/>
          </a:prstGeom>
          <a:noFill/>
        </p:spPr>
        <p:txBody>
          <a:bodyPr wrap="square">
            <a:spAutoFit/>
          </a:bodyPr>
          <a:lstStyle/>
          <a:p>
            <a:pPr algn="ctr"/>
            <a:r>
              <a:rPr sz="2200" b="0" i="0">
                <a:solidFill>
                  <a:srgbClr val="475569"/>
                </a:solidFill>
                <a:latin typeface="Segoe UI"/>
              </a:rPr>
              <a:t>→</a:t>
            </a:r>
          </a:p>
        </p:txBody>
      </p:sp>
      <p:sp>
        <p:nvSpPr>
          <p:cNvPr id="9" name="Rectangle 8"/>
          <p:cNvSpPr/>
          <p:nvPr/>
        </p:nvSpPr>
        <p:spPr>
          <a:xfrm>
            <a:off x="3355848" y="1554480"/>
            <a:ext cx="2377440" cy="14630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55848" y="1664208"/>
            <a:ext cx="2377440" cy="274320"/>
          </a:xfrm>
          <a:prstGeom prst="rect">
            <a:avLst/>
          </a:prstGeom>
          <a:noFill/>
        </p:spPr>
        <p:txBody>
          <a:bodyPr wrap="square">
            <a:spAutoFit/>
          </a:bodyPr>
          <a:lstStyle/>
          <a:p>
            <a:pPr algn="ctr"/>
            <a:r>
              <a:rPr sz="900" b="1" i="0">
                <a:solidFill>
                  <a:srgbClr val="475569"/>
                </a:solidFill>
                <a:latin typeface="Segoe UI"/>
              </a:rPr>
              <a:t>STAP 2</a:t>
            </a:r>
          </a:p>
        </p:txBody>
      </p:sp>
      <p:sp>
        <p:nvSpPr>
          <p:cNvPr id="11" name="TextBox 10"/>
          <p:cNvSpPr txBox="1"/>
          <p:nvPr/>
        </p:nvSpPr>
        <p:spPr>
          <a:xfrm>
            <a:off x="3355848" y="1901952"/>
            <a:ext cx="2377440" cy="502920"/>
          </a:xfrm>
          <a:prstGeom prst="rect">
            <a:avLst/>
          </a:prstGeom>
          <a:noFill/>
        </p:spPr>
        <p:txBody>
          <a:bodyPr wrap="square">
            <a:spAutoFit/>
          </a:bodyPr>
          <a:lstStyle/>
          <a:p>
            <a:pPr algn="ctr"/>
            <a:r>
              <a:rPr sz="1800" b="1" i="0">
                <a:solidFill>
                  <a:srgbClr val="E2E8F0"/>
                </a:solidFill>
                <a:latin typeface="Segoe UI"/>
              </a:rPr>
              <a:t>🔍 Analyseer</a:t>
            </a:r>
          </a:p>
        </p:txBody>
      </p:sp>
      <p:sp>
        <p:nvSpPr>
          <p:cNvPr id="12" name="TextBox 11"/>
          <p:cNvSpPr txBox="1"/>
          <p:nvPr/>
        </p:nvSpPr>
        <p:spPr>
          <a:xfrm>
            <a:off x="3355848" y="2423160"/>
            <a:ext cx="2377440" cy="365760"/>
          </a:xfrm>
          <a:prstGeom prst="rect">
            <a:avLst/>
          </a:prstGeom>
          <a:noFill/>
        </p:spPr>
        <p:txBody>
          <a:bodyPr wrap="square">
            <a:spAutoFit/>
          </a:bodyPr>
          <a:lstStyle/>
          <a:p>
            <a:pPr algn="ctr"/>
            <a:r>
              <a:rPr sz="1100" b="0" i="0">
                <a:solidFill>
                  <a:srgbClr val="38BDF8"/>
                </a:solidFill>
                <a:latin typeface="Segoe UI"/>
              </a:rPr>
              <a:t>analyse_midi.py</a:t>
            </a:r>
          </a:p>
        </p:txBody>
      </p:sp>
      <p:sp>
        <p:nvSpPr>
          <p:cNvPr id="13" name="TextBox 12"/>
          <p:cNvSpPr txBox="1"/>
          <p:nvPr/>
        </p:nvSpPr>
        <p:spPr>
          <a:xfrm>
            <a:off x="5733288" y="2057400"/>
            <a:ext cx="475488" cy="457200"/>
          </a:xfrm>
          <a:prstGeom prst="rect">
            <a:avLst/>
          </a:prstGeom>
          <a:noFill/>
        </p:spPr>
        <p:txBody>
          <a:bodyPr wrap="square">
            <a:spAutoFit/>
          </a:bodyPr>
          <a:lstStyle/>
          <a:p>
            <a:pPr algn="ctr"/>
            <a:r>
              <a:rPr sz="2200" b="0" i="0">
                <a:solidFill>
                  <a:srgbClr val="475569"/>
                </a:solidFill>
                <a:latin typeface="Segoe UI"/>
              </a:rPr>
              <a:t>→</a:t>
            </a:r>
          </a:p>
        </p:txBody>
      </p:sp>
      <p:sp>
        <p:nvSpPr>
          <p:cNvPr id="14" name="Rectangle 13"/>
          <p:cNvSpPr/>
          <p:nvPr/>
        </p:nvSpPr>
        <p:spPr>
          <a:xfrm>
            <a:off x="6208776" y="1554480"/>
            <a:ext cx="2377440" cy="14630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8776" y="1664208"/>
            <a:ext cx="2377440" cy="274320"/>
          </a:xfrm>
          <a:prstGeom prst="rect">
            <a:avLst/>
          </a:prstGeom>
          <a:noFill/>
        </p:spPr>
        <p:txBody>
          <a:bodyPr wrap="square">
            <a:spAutoFit/>
          </a:bodyPr>
          <a:lstStyle/>
          <a:p>
            <a:pPr algn="ctr"/>
            <a:r>
              <a:rPr sz="900" b="1" i="0">
                <a:solidFill>
                  <a:srgbClr val="475569"/>
                </a:solidFill>
                <a:latin typeface="Segoe UI"/>
              </a:rPr>
              <a:t>STAP 3</a:t>
            </a:r>
          </a:p>
        </p:txBody>
      </p:sp>
      <p:sp>
        <p:nvSpPr>
          <p:cNvPr id="16" name="TextBox 15"/>
          <p:cNvSpPr txBox="1"/>
          <p:nvPr/>
        </p:nvSpPr>
        <p:spPr>
          <a:xfrm>
            <a:off x="6208776" y="1901952"/>
            <a:ext cx="2377440" cy="502920"/>
          </a:xfrm>
          <a:prstGeom prst="rect">
            <a:avLst/>
          </a:prstGeom>
          <a:noFill/>
        </p:spPr>
        <p:txBody>
          <a:bodyPr wrap="square">
            <a:spAutoFit/>
          </a:bodyPr>
          <a:lstStyle/>
          <a:p>
            <a:pPr algn="ctr"/>
            <a:r>
              <a:rPr sz="1800" b="1" i="0">
                <a:solidFill>
                  <a:srgbClr val="E2E8F0"/>
                </a:solidFill>
                <a:latin typeface="Segoe UI"/>
              </a:rPr>
              <a:t>🎓 Train</a:t>
            </a:r>
          </a:p>
        </p:txBody>
      </p:sp>
      <p:sp>
        <p:nvSpPr>
          <p:cNvPr id="17" name="TextBox 16"/>
          <p:cNvSpPr txBox="1"/>
          <p:nvPr/>
        </p:nvSpPr>
        <p:spPr>
          <a:xfrm>
            <a:off x="6208776" y="2423160"/>
            <a:ext cx="2377440" cy="365760"/>
          </a:xfrm>
          <a:prstGeom prst="rect">
            <a:avLst/>
          </a:prstGeom>
          <a:noFill/>
        </p:spPr>
        <p:txBody>
          <a:bodyPr wrap="square">
            <a:spAutoFit/>
          </a:bodyPr>
          <a:lstStyle/>
          <a:p>
            <a:pPr algn="ctr"/>
            <a:r>
              <a:rPr sz="1100" b="0" i="0">
                <a:solidFill>
                  <a:srgbClr val="38BDF8"/>
                </a:solidFill>
                <a:latin typeface="Segoe UI"/>
              </a:rPr>
              <a:t>Training.py</a:t>
            </a:r>
          </a:p>
        </p:txBody>
      </p:sp>
      <p:sp>
        <p:nvSpPr>
          <p:cNvPr id="18" name="TextBox 17"/>
          <p:cNvSpPr txBox="1"/>
          <p:nvPr/>
        </p:nvSpPr>
        <p:spPr>
          <a:xfrm>
            <a:off x="8586216" y="2057400"/>
            <a:ext cx="475488" cy="457200"/>
          </a:xfrm>
          <a:prstGeom prst="rect">
            <a:avLst/>
          </a:prstGeom>
          <a:noFill/>
        </p:spPr>
        <p:txBody>
          <a:bodyPr wrap="square">
            <a:spAutoFit/>
          </a:bodyPr>
          <a:lstStyle/>
          <a:p>
            <a:pPr algn="ctr"/>
            <a:r>
              <a:rPr sz="2200" b="0" i="0">
                <a:solidFill>
                  <a:srgbClr val="475569"/>
                </a:solidFill>
                <a:latin typeface="Segoe UI"/>
              </a:rPr>
              <a:t>→</a:t>
            </a:r>
          </a:p>
        </p:txBody>
      </p:sp>
      <p:sp>
        <p:nvSpPr>
          <p:cNvPr id="19" name="Rectangle 18"/>
          <p:cNvSpPr/>
          <p:nvPr/>
        </p:nvSpPr>
        <p:spPr>
          <a:xfrm>
            <a:off x="9061704" y="1554480"/>
            <a:ext cx="2377440" cy="14630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61704" y="1664208"/>
            <a:ext cx="2377440" cy="274320"/>
          </a:xfrm>
          <a:prstGeom prst="rect">
            <a:avLst/>
          </a:prstGeom>
          <a:noFill/>
        </p:spPr>
        <p:txBody>
          <a:bodyPr wrap="square">
            <a:spAutoFit/>
          </a:bodyPr>
          <a:lstStyle/>
          <a:p>
            <a:pPr algn="ctr"/>
            <a:r>
              <a:rPr sz="900" b="1" i="0">
                <a:solidFill>
                  <a:srgbClr val="475569"/>
                </a:solidFill>
                <a:latin typeface="Segoe UI"/>
              </a:rPr>
              <a:t>STAP 4</a:t>
            </a:r>
          </a:p>
        </p:txBody>
      </p:sp>
      <p:sp>
        <p:nvSpPr>
          <p:cNvPr id="21" name="TextBox 20"/>
          <p:cNvSpPr txBox="1"/>
          <p:nvPr/>
        </p:nvSpPr>
        <p:spPr>
          <a:xfrm>
            <a:off x="9061704" y="1901952"/>
            <a:ext cx="2377440" cy="502920"/>
          </a:xfrm>
          <a:prstGeom prst="rect">
            <a:avLst/>
          </a:prstGeom>
          <a:noFill/>
        </p:spPr>
        <p:txBody>
          <a:bodyPr wrap="square">
            <a:spAutoFit/>
          </a:bodyPr>
          <a:lstStyle/>
          <a:p>
            <a:pPr algn="ctr"/>
            <a:r>
              <a:rPr sz="1800" b="1" i="0">
                <a:solidFill>
                  <a:srgbClr val="E2E8F0"/>
                </a:solidFill>
                <a:latin typeface="Segoe UI"/>
              </a:rPr>
              <a:t>🎵 Genereer</a:t>
            </a:r>
          </a:p>
        </p:txBody>
      </p:sp>
      <p:sp>
        <p:nvSpPr>
          <p:cNvPr id="22" name="TextBox 21"/>
          <p:cNvSpPr txBox="1"/>
          <p:nvPr/>
        </p:nvSpPr>
        <p:spPr>
          <a:xfrm>
            <a:off x="9061704" y="2423160"/>
            <a:ext cx="2377440" cy="365760"/>
          </a:xfrm>
          <a:prstGeom prst="rect">
            <a:avLst/>
          </a:prstGeom>
          <a:noFill/>
        </p:spPr>
        <p:txBody>
          <a:bodyPr wrap="square">
            <a:spAutoFit/>
          </a:bodyPr>
          <a:lstStyle/>
          <a:p>
            <a:pPr algn="ctr"/>
            <a:r>
              <a:rPr sz="1100" b="0" i="0">
                <a:solidFill>
                  <a:srgbClr val="38BDF8"/>
                </a:solidFill>
                <a:latin typeface="Segoe UI"/>
              </a:rPr>
              <a:t>Genereer.py</a:t>
            </a:r>
          </a:p>
        </p:txBody>
      </p:sp>
      <p:sp>
        <p:nvSpPr>
          <p:cNvPr id="23" name="Rectangle 22"/>
          <p:cNvSpPr/>
          <p:nvPr/>
        </p:nvSpPr>
        <p:spPr>
          <a:xfrm>
            <a:off x="502920" y="4663440"/>
            <a:ext cx="2651760" cy="10058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754880"/>
            <a:ext cx="2651760" cy="502920"/>
          </a:xfrm>
          <a:prstGeom prst="rect">
            <a:avLst/>
          </a:prstGeom>
          <a:noFill/>
        </p:spPr>
        <p:txBody>
          <a:bodyPr wrap="square">
            <a:spAutoFit/>
          </a:bodyPr>
          <a:lstStyle/>
          <a:p>
            <a:pPr algn="ctr"/>
            <a:r>
              <a:rPr sz="2800" b="1" i="0">
                <a:solidFill>
                  <a:srgbClr val="38BDF8"/>
                </a:solidFill>
                <a:latin typeface="Segoe UI"/>
              </a:rPr>
              <a:t>400+</a:t>
            </a:r>
          </a:p>
        </p:txBody>
      </p:sp>
      <p:sp>
        <p:nvSpPr>
          <p:cNvPr id="25" name="TextBox 24"/>
          <p:cNvSpPr txBox="1"/>
          <p:nvPr/>
        </p:nvSpPr>
        <p:spPr>
          <a:xfrm>
            <a:off x="502920" y="5257800"/>
            <a:ext cx="2651760" cy="320040"/>
          </a:xfrm>
          <a:prstGeom prst="rect">
            <a:avLst/>
          </a:prstGeom>
          <a:noFill/>
        </p:spPr>
        <p:txBody>
          <a:bodyPr wrap="square">
            <a:spAutoFit/>
          </a:bodyPr>
          <a:lstStyle/>
          <a:p>
            <a:pPr algn="ctr"/>
            <a:r>
              <a:rPr sz="1100" b="0" i="0">
                <a:solidFill>
                  <a:srgbClr val="94A3B8"/>
                </a:solidFill>
                <a:latin typeface="Segoe UI"/>
              </a:rPr>
              <a:t>Bach-werken</a:t>
            </a:r>
          </a:p>
        </p:txBody>
      </p:sp>
      <p:sp>
        <p:nvSpPr>
          <p:cNvPr id="26" name="Rectangle 25"/>
          <p:cNvSpPr/>
          <p:nvPr/>
        </p:nvSpPr>
        <p:spPr>
          <a:xfrm>
            <a:off x="3319272" y="4663440"/>
            <a:ext cx="2651760" cy="10058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19272" y="4754880"/>
            <a:ext cx="2651760" cy="502920"/>
          </a:xfrm>
          <a:prstGeom prst="rect">
            <a:avLst/>
          </a:prstGeom>
          <a:noFill/>
        </p:spPr>
        <p:txBody>
          <a:bodyPr wrap="square">
            <a:spAutoFit/>
          </a:bodyPr>
          <a:lstStyle/>
          <a:p>
            <a:pPr algn="ctr"/>
            <a:r>
              <a:rPr sz="2800" b="1" i="0">
                <a:solidFill>
                  <a:srgbClr val="38BDF8"/>
                </a:solidFill>
                <a:latin typeface="Segoe UI"/>
              </a:rPr>
              <a:t>8</a:t>
            </a:r>
          </a:p>
        </p:txBody>
      </p:sp>
      <p:sp>
        <p:nvSpPr>
          <p:cNvPr id="28" name="TextBox 27"/>
          <p:cNvSpPr txBox="1"/>
          <p:nvPr/>
        </p:nvSpPr>
        <p:spPr>
          <a:xfrm>
            <a:off x="3319272" y="5257800"/>
            <a:ext cx="2651760" cy="320040"/>
          </a:xfrm>
          <a:prstGeom prst="rect">
            <a:avLst/>
          </a:prstGeom>
          <a:noFill/>
        </p:spPr>
        <p:txBody>
          <a:bodyPr wrap="square">
            <a:spAutoFit/>
          </a:bodyPr>
          <a:lstStyle/>
          <a:p>
            <a:pPr algn="ctr"/>
            <a:r>
              <a:rPr sz="1100" b="0" i="0">
                <a:solidFill>
                  <a:srgbClr val="94A3B8"/>
                </a:solidFill>
                <a:latin typeface="Segoe UI"/>
              </a:rPr>
              <a:t>genres</a:t>
            </a:r>
          </a:p>
        </p:txBody>
      </p:sp>
      <p:sp>
        <p:nvSpPr>
          <p:cNvPr id="29" name="Rectangle 28"/>
          <p:cNvSpPr/>
          <p:nvPr/>
        </p:nvSpPr>
        <p:spPr>
          <a:xfrm>
            <a:off x="6135624" y="4663440"/>
            <a:ext cx="2651760" cy="10058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35624" y="4754880"/>
            <a:ext cx="2651760" cy="502920"/>
          </a:xfrm>
          <a:prstGeom prst="rect">
            <a:avLst/>
          </a:prstGeom>
          <a:noFill/>
        </p:spPr>
        <p:txBody>
          <a:bodyPr wrap="square">
            <a:spAutoFit/>
          </a:bodyPr>
          <a:lstStyle/>
          <a:p>
            <a:pPr algn="ctr"/>
            <a:r>
              <a:rPr sz="2800" b="1" i="0">
                <a:solidFill>
                  <a:srgbClr val="38BDF8"/>
                </a:solidFill>
                <a:latin typeface="Segoe UI"/>
              </a:rPr>
              <a:t>.mid + .xml</a:t>
            </a:r>
          </a:p>
        </p:txBody>
      </p:sp>
      <p:sp>
        <p:nvSpPr>
          <p:cNvPr id="31" name="TextBox 30"/>
          <p:cNvSpPr txBox="1"/>
          <p:nvPr/>
        </p:nvSpPr>
        <p:spPr>
          <a:xfrm>
            <a:off x="6135624" y="5257800"/>
            <a:ext cx="2651760" cy="320040"/>
          </a:xfrm>
          <a:prstGeom prst="rect">
            <a:avLst/>
          </a:prstGeom>
          <a:noFill/>
        </p:spPr>
        <p:txBody>
          <a:bodyPr wrap="square">
            <a:spAutoFit/>
          </a:bodyPr>
          <a:lstStyle/>
          <a:p>
            <a:pPr algn="ctr"/>
            <a:r>
              <a:rPr sz="1100" b="0" i="0">
                <a:solidFill>
                  <a:srgbClr val="94A3B8"/>
                </a:solidFill>
                <a:latin typeface="Segoe UI"/>
              </a:rPr>
              <a:t>per werk</a:t>
            </a:r>
          </a:p>
        </p:txBody>
      </p:sp>
      <p:sp>
        <p:nvSpPr>
          <p:cNvPr id="32" name="Rectangle 31"/>
          <p:cNvSpPr/>
          <p:nvPr/>
        </p:nvSpPr>
        <p:spPr>
          <a:xfrm>
            <a:off x="8951976" y="4663440"/>
            <a:ext cx="2651760" cy="10058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51976" y="4754880"/>
            <a:ext cx="2651760" cy="502920"/>
          </a:xfrm>
          <a:prstGeom prst="rect">
            <a:avLst/>
          </a:prstGeom>
          <a:noFill/>
        </p:spPr>
        <p:txBody>
          <a:bodyPr wrap="square">
            <a:spAutoFit/>
          </a:bodyPr>
          <a:lstStyle/>
          <a:p>
            <a:pPr algn="ctr"/>
            <a:r>
              <a:rPr sz="2800" b="1" i="0">
                <a:solidFill>
                  <a:srgbClr val="38BDF8"/>
                </a:solidFill>
                <a:latin typeface="Segoe UI"/>
              </a:rPr>
              <a:t>LSTM</a:t>
            </a:r>
          </a:p>
        </p:txBody>
      </p:sp>
      <p:sp>
        <p:nvSpPr>
          <p:cNvPr id="34" name="TextBox 33"/>
          <p:cNvSpPr txBox="1"/>
          <p:nvPr/>
        </p:nvSpPr>
        <p:spPr>
          <a:xfrm>
            <a:off x="8951976" y="5257800"/>
            <a:ext cx="2651760" cy="320040"/>
          </a:xfrm>
          <a:prstGeom prst="rect">
            <a:avLst/>
          </a:prstGeom>
          <a:noFill/>
        </p:spPr>
        <p:txBody>
          <a:bodyPr wrap="square">
            <a:spAutoFit/>
          </a:bodyPr>
          <a:lstStyle/>
          <a:p>
            <a:pPr algn="ctr"/>
            <a:r>
              <a:rPr sz="1100" b="0" i="0">
                <a:solidFill>
                  <a:srgbClr val="94A3B8"/>
                </a:solidFill>
                <a:latin typeface="Segoe UI"/>
              </a:rPr>
              <a:t>model-type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Data — het Bach-corpus</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Genres op basis van BWV-nummer · twee bestandsformaten per werk</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5943600" cy="3474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453896"/>
            <a:ext cx="1828800" cy="274320"/>
          </a:xfrm>
          <a:prstGeom prst="rect">
            <a:avLst/>
          </a:prstGeom>
          <a:noFill/>
        </p:spPr>
        <p:txBody>
          <a:bodyPr wrap="square">
            <a:spAutoFit/>
          </a:bodyPr>
          <a:lstStyle/>
          <a:p>
            <a:pPr algn="l"/>
            <a:r>
              <a:rPr sz="1100" b="1" i="0">
                <a:solidFill>
                  <a:srgbClr val="94A3B8"/>
                </a:solidFill>
                <a:latin typeface="Segoe UI"/>
              </a:rPr>
              <a:t>BWV-reeks</a:t>
            </a:r>
          </a:p>
        </p:txBody>
      </p:sp>
      <p:sp>
        <p:nvSpPr>
          <p:cNvPr id="7" name="TextBox 6"/>
          <p:cNvSpPr txBox="1"/>
          <p:nvPr/>
        </p:nvSpPr>
        <p:spPr>
          <a:xfrm>
            <a:off x="2606040" y="1453896"/>
            <a:ext cx="3657600" cy="274320"/>
          </a:xfrm>
          <a:prstGeom prst="rect">
            <a:avLst/>
          </a:prstGeom>
          <a:noFill/>
        </p:spPr>
        <p:txBody>
          <a:bodyPr wrap="square">
            <a:spAutoFit/>
          </a:bodyPr>
          <a:lstStyle/>
          <a:p>
            <a:pPr algn="l"/>
            <a:r>
              <a:rPr sz="1100" b="1" i="0">
                <a:solidFill>
                  <a:srgbClr val="94A3B8"/>
                </a:solidFill>
                <a:latin typeface="Segoe UI"/>
              </a:rPr>
              <a:t>Genre</a:t>
            </a:r>
          </a:p>
        </p:txBody>
      </p:sp>
      <p:sp>
        <p:nvSpPr>
          <p:cNvPr id="8" name="Rectangle 7"/>
          <p:cNvSpPr/>
          <p:nvPr/>
        </p:nvSpPr>
        <p:spPr>
          <a:xfrm>
            <a:off x="502920" y="1764792"/>
            <a:ext cx="59436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37944"/>
            <a:ext cx="1828800" cy="429768"/>
          </a:xfrm>
          <a:prstGeom prst="rect">
            <a:avLst/>
          </a:prstGeom>
          <a:noFill/>
        </p:spPr>
        <p:txBody>
          <a:bodyPr wrap="square">
            <a:spAutoFit/>
          </a:bodyPr>
          <a:lstStyle/>
          <a:p>
            <a:pPr algn="l"/>
            <a:r>
              <a:rPr sz="1200" b="0" i="0">
                <a:solidFill>
                  <a:srgbClr val="E2E8F0"/>
                </a:solidFill>
                <a:latin typeface="Segoe UI"/>
              </a:rPr>
              <a:t>1 – 224</a:t>
            </a:r>
          </a:p>
        </p:txBody>
      </p:sp>
      <p:sp>
        <p:nvSpPr>
          <p:cNvPr id="10" name="TextBox 9"/>
          <p:cNvSpPr txBox="1"/>
          <p:nvPr/>
        </p:nvSpPr>
        <p:spPr>
          <a:xfrm>
            <a:off x="2606040" y="1837944"/>
            <a:ext cx="3657600" cy="429768"/>
          </a:xfrm>
          <a:prstGeom prst="rect">
            <a:avLst/>
          </a:prstGeom>
          <a:noFill/>
        </p:spPr>
        <p:txBody>
          <a:bodyPr wrap="square">
            <a:spAutoFit/>
          </a:bodyPr>
          <a:lstStyle/>
          <a:p>
            <a:pPr algn="l"/>
            <a:r>
              <a:rPr sz="1200" b="0" i="0">
                <a:solidFill>
                  <a:srgbClr val="E2E8F0"/>
                </a:solidFill>
                <a:latin typeface="Segoe UI"/>
              </a:rPr>
              <a:t>Cantate / Koraal (cantate)</a:t>
            </a:r>
          </a:p>
        </p:txBody>
      </p:sp>
      <p:sp>
        <p:nvSpPr>
          <p:cNvPr id="11" name="Rectangle 10"/>
          <p:cNvSpPr/>
          <p:nvPr/>
        </p:nvSpPr>
        <p:spPr>
          <a:xfrm>
            <a:off x="502920" y="2194560"/>
            <a:ext cx="59436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267712"/>
            <a:ext cx="1828800" cy="429768"/>
          </a:xfrm>
          <a:prstGeom prst="rect">
            <a:avLst/>
          </a:prstGeom>
          <a:noFill/>
        </p:spPr>
        <p:txBody>
          <a:bodyPr wrap="square">
            <a:spAutoFit/>
          </a:bodyPr>
          <a:lstStyle/>
          <a:p>
            <a:pPr algn="l"/>
            <a:r>
              <a:rPr sz="1200" b="0" i="0">
                <a:solidFill>
                  <a:srgbClr val="E2E8F0"/>
                </a:solidFill>
                <a:latin typeface="Segoe UI"/>
              </a:rPr>
              <a:t>225 – 231</a:t>
            </a:r>
          </a:p>
        </p:txBody>
      </p:sp>
      <p:sp>
        <p:nvSpPr>
          <p:cNvPr id="13" name="TextBox 12"/>
          <p:cNvSpPr txBox="1"/>
          <p:nvPr/>
        </p:nvSpPr>
        <p:spPr>
          <a:xfrm>
            <a:off x="2606040" y="2267712"/>
            <a:ext cx="3657600" cy="429768"/>
          </a:xfrm>
          <a:prstGeom prst="rect">
            <a:avLst/>
          </a:prstGeom>
          <a:noFill/>
        </p:spPr>
        <p:txBody>
          <a:bodyPr wrap="square">
            <a:spAutoFit/>
          </a:bodyPr>
          <a:lstStyle/>
          <a:p>
            <a:pPr algn="l"/>
            <a:r>
              <a:rPr sz="1200" b="0" i="0">
                <a:solidFill>
                  <a:srgbClr val="E2E8F0"/>
                </a:solidFill>
                <a:latin typeface="Segoe UI"/>
              </a:rPr>
              <a:t>Motet</a:t>
            </a:r>
          </a:p>
        </p:txBody>
      </p:sp>
      <p:sp>
        <p:nvSpPr>
          <p:cNvPr id="14" name="Rectangle 13"/>
          <p:cNvSpPr/>
          <p:nvPr/>
        </p:nvSpPr>
        <p:spPr>
          <a:xfrm>
            <a:off x="502920" y="2624328"/>
            <a:ext cx="59436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2697480"/>
            <a:ext cx="1828800" cy="429768"/>
          </a:xfrm>
          <a:prstGeom prst="rect">
            <a:avLst/>
          </a:prstGeom>
          <a:noFill/>
        </p:spPr>
        <p:txBody>
          <a:bodyPr wrap="square">
            <a:spAutoFit/>
          </a:bodyPr>
          <a:lstStyle/>
          <a:p>
            <a:pPr algn="l"/>
            <a:r>
              <a:rPr sz="1200" b="0" i="0">
                <a:solidFill>
                  <a:srgbClr val="E2E8F0"/>
                </a:solidFill>
                <a:latin typeface="Segoe UI"/>
              </a:rPr>
              <a:t>232 – 236</a:t>
            </a:r>
          </a:p>
        </p:txBody>
      </p:sp>
      <p:sp>
        <p:nvSpPr>
          <p:cNvPr id="16" name="TextBox 15"/>
          <p:cNvSpPr txBox="1"/>
          <p:nvPr/>
        </p:nvSpPr>
        <p:spPr>
          <a:xfrm>
            <a:off x="2606040" y="2697480"/>
            <a:ext cx="3657600" cy="429768"/>
          </a:xfrm>
          <a:prstGeom prst="rect">
            <a:avLst/>
          </a:prstGeom>
          <a:noFill/>
        </p:spPr>
        <p:txBody>
          <a:bodyPr wrap="square">
            <a:spAutoFit/>
          </a:bodyPr>
          <a:lstStyle/>
          <a:p>
            <a:pPr algn="l"/>
            <a:r>
              <a:rPr sz="1200" b="0" i="0">
                <a:solidFill>
                  <a:srgbClr val="E2E8F0"/>
                </a:solidFill>
                <a:latin typeface="Segoe UI"/>
              </a:rPr>
              <a:t>Mis</a:t>
            </a:r>
          </a:p>
        </p:txBody>
      </p:sp>
      <p:sp>
        <p:nvSpPr>
          <p:cNvPr id="17" name="Rectangle 16"/>
          <p:cNvSpPr/>
          <p:nvPr/>
        </p:nvSpPr>
        <p:spPr>
          <a:xfrm>
            <a:off x="502920" y="3054096"/>
            <a:ext cx="59436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127248"/>
            <a:ext cx="1828800" cy="429768"/>
          </a:xfrm>
          <a:prstGeom prst="rect">
            <a:avLst/>
          </a:prstGeom>
          <a:noFill/>
        </p:spPr>
        <p:txBody>
          <a:bodyPr wrap="square">
            <a:spAutoFit/>
          </a:bodyPr>
          <a:lstStyle/>
          <a:p>
            <a:pPr algn="l"/>
            <a:r>
              <a:rPr sz="1200" b="0" i="0">
                <a:solidFill>
                  <a:srgbClr val="E2E8F0"/>
                </a:solidFill>
                <a:latin typeface="Segoe UI"/>
              </a:rPr>
              <a:t>237 – 243</a:t>
            </a:r>
          </a:p>
        </p:txBody>
      </p:sp>
      <p:sp>
        <p:nvSpPr>
          <p:cNvPr id="19" name="TextBox 18"/>
          <p:cNvSpPr txBox="1"/>
          <p:nvPr/>
        </p:nvSpPr>
        <p:spPr>
          <a:xfrm>
            <a:off x="2606040" y="3127248"/>
            <a:ext cx="3657600" cy="429768"/>
          </a:xfrm>
          <a:prstGeom prst="rect">
            <a:avLst/>
          </a:prstGeom>
          <a:noFill/>
        </p:spPr>
        <p:txBody>
          <a:bodyPr wrap="square">
            <a:spAutoFit/>
          </a:bodyPr>
          <a:lstStyle/>
          <a:p>
            <a:pPr algn="l"/>
            <a:r>
              <a:rPr sz="1200" b="0" i="0">
                <a:solidFill>
                  <a:srgbClr val="E2E8F0"/>
                </a:solidFill>
                <a:latin typeface="Segoe UI"/>
              </a:rPr>
              <a:t>Sanctus</a:t>
            </a:r>
          </a:p>
        </p:txBody>
      </p:sp>
      <p:sp>
        <p:nvSpPr>
          <p:cNvPr id="20" name="Rectangle 19"/>
          <p:cNvSpPr/>
          <p:nvPr/>
        </p:nvSpPr>
        <p:spPr>
          <a:xfrm>
            <a:off x="502920" y="3483864"/>
            <a:ext cx="59436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557016"/>
            <a:ext cx="1828800" cy="429768"/>
          </a:xfrm>
          <a:prstGeom prst="rect">
            <a:avLst/>
          </a:prstGeom>
          <a:noFill/>
        </p:spPr>
        <p:txBody>
          <a:bodyPr wrap="square">
            <a:spAutoFit/>
          </a:bodyPr>
          <a:lstStyle/>
          <a:p>
            <a:pPr algn="l"/>
            <a:r>
              <a:rPr sz="1200" b="0" i="0">
                <a:solidFill>
                  <a:srgbClr val="E2E8F0"/>
                </a:solidFill>
                <a:latin typeface="Segoe UI"/>
              </a:rPr>
              <a:t>244 / 245</a:t>
            </a:r>
          </a:p>
        </p:txBody>
      </p:sp>
      <p:sp>
        <p:nvSpPr>
          <p:cNvPr id="22" name="TextBox 21"/>
          <p:cNvSpPr txBox="1"/>
          <p:nvPr/>
        </p:nvSpPr>
        <p:spPr>
          <a:xfrm>
            <a:off x="2606040" y="3557016"/>
            <a:ext cx="3657600" cy="429768"/>
          </a:xfrm>
          <a:prstGeom prst="rect">
            <a:avLst/>
          </a:prstGeom>
          <a:noFill/>
        </p:spPr>
        <p:txBody>
          <a:bodyPr wrap="square">
            <a:spAutoFit/>
          </a:bodyPr>
          <a:lstStyle/>
          <a:p>
            <a:pPr algn="l"/>
            <a:r>
              <a:rPr sz="1200" b="0" i="0">
                <a:solidFill>
                  <a:srgbClr val="E2E8F0"/>
                </a:solidFill>
                <a:latin typeface="Segoe UI"/>
              </a:rPr>
              <a:t>Matthäus- / Johannes-Passion</a:t>
            </a:r>
          </a:p>
        </p:txBody>
      </p:sp>
      <p:sp>
        <p:nvSpPr>
          <p:cNvPr id="23" name="Rectangle 22"/>
          <p:cNvSpPr/>
          <p:nvPr/>
        </p:nvSpPr>
        <p:spPr>
          <a:xfrm>
            <a:off x="502920" y="3913632"/>
            <a:ext cx="59436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 y="3986784"/>
            <a:ext cx="1828800" cy="429768"/>
          </a:xfrm>
          <a:prstGeom prst="rect">
            <a:avLst/>
          </a:prstGeom>
          <a:noFill/>
        </p:spPr>
        <p:txBody>
          <a:bodyPr wrap="square">
            <a:spAutoFit/>
          </a:bodyPr>
          <a:lstStyle/>
          <a:p>
            <a:pPr algn="l"/>
            <a:r>
              <a:rPr sz="1200" b="0" i="0">
                <a:solidFill>
                  <a:srgbClr val="E2E8F0"/>
                </a:solidFill>
                <a:latin typeface="Segoe UI"/>
              </a:rPr>
              <a:t>248</a:t>
            </a:r>
          </a:p>
        </p:txBody>
      </p:sp>
      <p:sp>
        <p:nvSpPr>
          <p:cNvPr id="25" name="TextBox 24"/>
          <p:cNvSpPr txBox="1"/>
          <p:nvPr/>
        </p:nvSpPr>
        <p:spPr>
          <a:xfrm>
            <a:off x="2606040" y="3986784"/>
            <a:ext cx="3657600" cy="429768"/>
          </a:xfrm>
          <a:prstGeom prst="rect">
            <a:avLst/>
          </a:prstGeom>
          <a:noFill/>
        </p:spPr>
        <p:txBody>
          <a:bodyPr wrap="square">
            <a:spAutoFit/>
          </a:bodyPr>
          <a:lstStyle/>
          <a:p>
            <a:pPr algn="l"/>
            <a:r>
              <a:rPr sz="1200" b="0" i="0">
                <a:solidFill>
                  <a:srgbClr val="E2E8F0"/>
                </a:solidFill>
                <a:latin typeface="Segoe UI"/>
              </a:rPr>
              <a:t>Kerstoratorium</a:t>
            </a:r>
          </a:p>
        </p:txBody>
      </p:sp>
      <p:sp>
        <p:nvSpPr>
          <p:cNvPr id="26" name="Rectangle 25"/>
          <p:cNvSpPr/>
          <p:nvPr/>
        </p:nvSpPr>
        <p:spPr>
          <a:xfrm>
            <a:off x="502920" y="4343400"/>
            <a:ext cx="5943600" cy="393192"/>
          </a:xfrm>
          <a:prstGeom prst="rect">
            <a:avLst/>
          </a:prstGeom>
          <a:solidFill>
            <a:srgbClr val="0E283A"/>
          </a:solidFill>
          <a:ln w="63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 y="4416552"/>
            <a:ext cx="1828800" cy="429768"/>
          </a:xfrm>
          <a:prstGeom prst="rect">
            <a:avLst/>
          </a:prstGeom>
          <a:noFill/>
        </p:spPr>
        <p:txBody>
          <a:bodyPr wrap="square">
            <a:spAutoFit/>
          </a:bodyPr>
          <a:lstStyle/>
          <a:p>
            <a:pPr algn="l"/>
            <a:r>
              <a:rPr sz="1200" b="1" i="0">
                <a:solidFill>
                  <a:srgbClr val="38BDF8"/>
                </a:solidFill>
                <a:latin typeface="Segoe UI"/>
              </a:rPr>
              <a:t>250 – 438</a:t>
            </a:r>
          </a:p>
        </p:txBody>
      </p:sp>
      <p:sp>
        <p:nvSpPr>
          <p:cNvPr id="28" name="TextBox 27"/>
          <p:cNvSpPr txBox="1"/>
          <p:nvPr/>
        </p:nvSpPr>
        <p:spPr>
          <a:xfrm>
            <a:off x="2606040" y="4416552"/>
            <a:ext cx="3657600" cy="429768"/>
          </a:xfrm>
          <a:prstGeom prst="rect">
            <a:avLst/>
          </a:prstGeom>
          <a:noFill/>
        </p:spPr>
        <p:txBody>
          <a:bodyPr wrap="square">
            <a:spAutoFit/>
          </a:bodyPr>
          <a:lstStyle/>
          <a:p>
            <a:pPr algn="l"/>
            <a:r>
              <a:rPr sz="1200" b="1" i="0">
                <a:solidFill>
                  <a:srgbClr val="38BDF8"/>
                </a:solidFill>
                <a:latin typeface="Segoe UI"/>
              </a:rPr>
              <a:t>Koralen  ← meest gebruikt</a:t>
            </a:r>
          </a:p>
        </p:txBody>
      </p:sp>
      <p:sp>
        <p:nvSpPr>
          <p:cNvPr id="29" name="Rectangle 28"/>
          <p:cNvSpPr/>
          <p:nvPr/>
        </p:nvSpPr>
        <p:spPr>
          <a:xfrm>
            <a:off x="6675120" y="1417320"/>
            <a:ext cx="4983480" cy="150876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39712" y="1527048"/>
            <a:ext cx="4654296" cy="347472"/>
          </a:xfrm>
          <a:prstGeom prst="rect">
            <a:avLst/>
          </a:prstGeom>
          <a:noFill/>
        </p:spPr>
        <p:txBody>
          <a:bodyPr wrap="square">
            <a:spAutoFit/>
          </a:bodyPr>
          <a:lstStyle/>
          <a:p>
            <a:pPr algn="l"/>
            <a:r>
              <a:rPr sz="1400" b="1" i="0">
                <a:solidFill>
                  <a:srgbClr val="38BDF8"/>
                </a:solidFill>
                <a:latin typeface="Segoe UI"/>
              </a:rPr>
              <a:t>MIDI (.mid)</a:t>
            </a:r>
          </a:p>
        </p:txBody>
      </p:sp>
      <p:sp>
        <p:nvSpPr>
          <p:cNvPr id="31" name="TextBox 30"/>
          <p:cNvSpPr txBox="1"/>
          <p:nvPr/>
        </p:nvSpPr>
        <p:spPr>
          <a:xfrm>
            <a:off x="6839712" y="1892808"/>
            <a:ext cx="4654296" cy="923544"/>
          </a:xfrm>
          <a:prstGeom prst="rect">
            <a:avLst/>
          </a:prstGeom>
          <a:noFill/>
        </p:spPr>
        <p:txBody>
          <a:bodyPr wrap="square">
            <a:spAutoFit/>
          </a:bodyPr>
          <a:lstStyle/>
          <a:p>
            <a:pPr algn="l"/>
            <a:r>
              <a:rPr sz="1100" b="0" i="0">
                <a:solidFill>
                  <a:srgbClr val="94A3B8"/>
                </a:solidFill>
                <a:latin typeface="Segoe UI"/>
              </a:rPr>
              <a:t>Noten, ritme, stemindeling, tempo.
Basis voor training én afspelen.</a:t>
            </a:r>
          </a:p>
        </p:txBody>
      </p:sp>
      <p:sp>
        <p:nvSpPr>
          <p:cNvPr id="32" name="Rectangle 31"/>
          <p:cNvSpPr/>
          <p:nvPr/>
        </p:nvSpPr>
        <p:spPr>
          <a:xfrm>
            <a:off x="6675120" y="3063240"/>
            <a:ext cx="4983480" cy="150876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39712" y="3172968"/>
            <a:ext cx="4654296" cy="347472"/>
          </a:xfrm>
          <a:prstGeom prst="rect">
            <a:avLst/>
          </a:prstGeom>
          <a:noFill/>
        </p:spPr>
        <p:txBody>
          <a:bodyPr wrap="square">
            <a:spAutoFit/>
          </a:bodyPr>
          <a:lstStyle/>
          <a:p>
            <a:pPr algn="l"/>
            <a:r>
              <a:rPr sz="1400" b="1" i="0">
                <a:solidFill>
                  <a:srgbClr val="A78BFA"/>
                </a:solidFill>
                <a:latin typeface="Segoe UI"/>
              </a:rPr>
              <a:t>MusicXML (.xml)</a:t>
            </a:r>
          </a:p>
        </p:txBody>
      </p:sp>
      <p:sp>
        <p:nvSpPr>
          <p:cNvPr id="34" name="TextBox 33"/>
          <p:cNvSpPr txBox="1"/>
          <p:nvPr/>
        </p:nvSpPr>
        <p:spPr>
          <a:xfrm>
            <a:off x="6839712" y="3538728"/>
            <a:ext cx="4654296" cy="923544"/>
          </a:xfrm>
          <a:prstGeom prst="rect">
            <a:avLst/>
          </a:prstGeom>
          <a:noFill/>
        </p:spPr>
        <p:txBody>
          <a:bodyPr wrap="square">
            <a:spAutoFit/>
          </a:bodyPr>
          <a:lstStyle/>
          <a:p>
            <a:pPr algn="l"/>
            <a:r>
              <a:rPr sz="1100" b="0" i="0">
                <a:solidFill>
                  <a:srgbClr val="94A3B8"/>
                </a:solidFill>
                <a:latin typeface="Segoe UI"/>
              </a:rPr>
              <a:t>Sleutels, maatsoorten, dynamiek.
Gebruikt voor bladmuziekweergave via abcjs.</a:t>
            </a:r>
          </a:p>
        </p:txBody>
      </p:sp>
      <p:sp>
        <p:nvSpPr>
          <p:cNvPr id="35" name="TextBox 34"/>
          <p:cNvSpPr txBox="1"/>
          <p:nvPr/>
        </p:nvSpPr>
        <p:spPr>
          <a:xfrm>
            <a:off x="6675120" y="4754880"/>
            <a:ext cx="4983480" cy="822960"/>
          </a:xfrm>
          <a:prstGeom prst="rect">
            <a:avLst/>
          </a:prstGeom>
          <a:noFill/>
        </p:spPr>
        <p:txBody>
          <a:bodyPr wrap="square">
            <a:spAutoFit/>
          </a:bodyPr>
          <a:lstStyle/>
          <a:p>
            <a:pPr algn="l"/>
            <a:r>
              <a:rPr sz="1100" b="0" i="0">
                <a:solidFill>
                  <a:srgbClr val="94A3B8"/>
                </a:solidFill>
                <a:latin typeface="Segoe UI"/>
              </a:rPr>
              <a:t>Beide formats worden vanuit hetzelfde
music21-object geschreven — niet het
ene van het andere afgeleid.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Tokenisatie</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Elke noot of rust wordt een VoiceToken: (MIDI-pitch, duur)</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10972800" cy="320040"/>
          </a:xfrm>
          <a:prstGeom prst="rect">
            <a:avLst/>
          </a:prstGeom>
          <a:noFill/>
        </p:spPr>
        <p:txBody>
          <a:bodyPr wrap="square">
            <a:spAutoFit/>
          </a:bodyPr>
          <a:lstStyle/>
          <a:p>
            <a:pPr algn="l"/>
            <a:r>
              <a:rPr sz="1200" b="0" i="0">
                <a:solidFill>
                  <a:srgbClr val="475569"/>
                </a:solidFill>
                <a:latin typeface="Segoe UI"/>
              </a:rPr>
              <a:t>Voorbeeld: BWV 227 · Soprano-stem</a:t>
            </a:r>
          </a:p>
        </p:txBody>
      </p:sp>
      <p:sp>
        <p:nvSpPr>
          <p:cNvPr id="6" name="Rectangle 5"/>
          <p:cNvSpPr/>
          <p:nvPr/>
        </p:nvSpPr>
        <p:spPr>
          <a:xfrm>
            <a:off x="502920" y="1737360"/>
            <a:ext cx="1691640" cy="45720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1783080"/>
            <a:ext cx="1554480" cy="365760"/>
          </a:xfrm>
          <a:prstGeom prst="rect">
            <a:avLst/>
          </a:prstGeom>
          <a:noFill/>
        </p:spPr>
        <p:txBody>
          <a:bodyPr wrap="square">
            <a:spAutoFit/>
          </a:bodyPr>
          <a:lstStyle/>
          <a:p>
            <a:pPr algn="ctr"/>
            <a:r>
              <a:rPr sz="1100" b="0" i="0">
                <a:solidFill>
                  <a:srgbClr val="38BDF8"/>
                </a:solidFill>
                <a:latin typeface="Segoe UI"/>
              </a:rPr>
              <a:t>(72, 1.0)</a:t>
            </a:r>
          </a:p>
        </p:txBody>
      </p:sp>
      <p:sp>
        <p:nvSpPr>
          <p:cNvPr id="8" name="TextBox 7"/>
          <p:cNvSpPr txBox="1"/>
          <p:nvPr/>
        </p:nvSpPr>
        <p:spPr>
          <a:xfrm>
            <a:off x="2148840" y="1783080"/>
            <a:ext cx="201168" cy="365760"/>
          </a:xfrm>
          <a:prstGeom prst="rect">
            <a:avLst/>
          </a:prstGeom>
          <a:noFill/>
        </p:spPr>
        <p:txBody>
          <a:bodyPr wrap="square">
            <a:spAutoFit/>
          </a:bodyPr>
          <a:lstStyle/>
          <a:p>
            <a:pPr algn="l"/>
            <a:r>
              <a:rPr sz="1400" b="0" i="0">
                <a:solidFill>
                  <a:srgbClr val="475569"/>
                </a:solidFill>
                <a:latin typeface="Segoe UI"/>
              </a:rPr>
              <a:t>→</a:t>
            </a:r>
          </a:p>
        </p:txBody>
      </p:sp>
      <p:sp>
        <p:nvSpPr>
          <p:cNvPr id="9" name="Rectangle 8"/>
          <p:cNvSpPr/>
          <p:nvPr/>
        </p:nvSpPr>
        <p:spPr>
          <a:xfrm>
            <a:off x="2286000" y="1737360"/>
            <a:ext cx="1691640" cy="45720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59152" y="1783080"/>
            <a:ext cx="1554480" cy="365760"/>
          </a:xfrm>
          <a:prstGeom prst="rect">
            <a:avLst/>
          </a:prstGeom>
          <a:noFill/>
        </p:spPr>
        <p:txBody>
          <a:bodyPr wrap="square">
            <a:spAutoFit/>
          </a:bodyPr>
          <a:lstStyle/>
          <a:p>
            <a:pPr algn="ctr"/>
            <a:r>
              <a:rPr sz="1100" b="0" i="0">
                <a:solidFill>
                  <a:srgbClr val="38BDF8"/>
                </a:solidFill>
                <a:latin typeface="Segoe UI"/>
              </a:rPr>
              <a:t>(74, 0.5)</a:t>
            </a:r>
          </a:p>
        </p:txBody>
      </p:sp>
      <p:sp>
        <p:nvSpPr>
          <p:cNvPr id="11" name="TextBox 10"/>
          <p:cNvSpPr txBox="1"/>
          <p:nvPr/>
        </p:nvSpPr>
        <p:spPr>
          <a:xfrm>
            <a:off x="3931920" y="1783080"/>
            <a:ext cx="201168" cy="365760"/>
          </a:xfrm>
          <a:prstGeom prst="rect">
            <a:avLst/>
          </a:prstGeom>
          <a:noFill/>
        </p:spPr>
        <p:txBody>
          <a:bodyPr wrap="square">
            <a:spAutoFit/>
          </a:bodyPr>
          <a:lstStyle/>
          <a:p>
            <a:pPr algn="l"/>
            <a:r>
              <a:rPr sz="1400" b="0" i="0">
                <a:solidFill>
                  <a:srgbClr val="475569"/>
                </a:solidFill>
                <a:latin typeface="Segoe UI"/>
              </a:rPr>
              <a:t>→</a:t>
            </a:r>
          </a:p>
        </p:txBody>
      </p:sp>
      <p:sp>
        <p:nvSpPr>
          <p:cNvPr id="12" name="Rectangle 11"/>
          <p:cNvSpPr/>
          <p:nvPr/>
        </p:nvSpPr>
        <p:spPr>
          <a:xfrm>
            <a:off x="4069080" y="1737360"/>
            <a:ext cx="1691640" cy="45720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42232" y="1783080"/>
            <a:ext cx="1554480" cy="365760"/>
          </a:xfrm>
          <a:prstGeom prst="rect">
            <a:avLst/>
          </a:prstGeom>
          <a:noFill/>
        </p:spPr>
        <p:txBody>
          <a:bodyPr wrap="square">
            <a:spAutoFit/>
          </a:bodyPr>
          <a:lstStyle/>
          <a:p>
            <a:pPr algn="ctr"/>
            <a:r>
              <a:rPr sz="1100" b="0" i="0">
                <a:solidFill>
                  <a:srgbClr val="38BDF8"/>
                </a:solidFill>
                <a:latin typeface="Segoe UI"/>
              </a:rPr>
              <a:t>(76, 0.5)</a:t>
            </a:r>
          </a:p>
        </p:txBody>
      </p:sp>
      <p:sp>
        <p:nvSpPr>
          <p:cNvPr id="14" name="TextBox 13"/>
          <p:cNvSpPr txBox="1"/>
          <p:nvPr/>
        </p:nvSpPr>
        <p:spPr>
          <a:xfrm>
            <a:off x="5715000" y="1783080"/>
            <a:ext cx="201168" cy="365760"/>
          </a:xfrm>
          <a:prstGeom prst="rect">
            <a:avLst/>
          </a:prstGeom>
          <a:noFill/>
        </p:spPr>
        <p:txBody>
          <a:bodyPr wrap="square">
            <a:spAutoFit/>
          </a:bodyPr>
          <a:lstStyle/>
          <a:p>
            <a:pPr algn="l"/>
            <a:r>
              <a:rPr sz="1400" b="0" i="0">
                <a:solidFill>
                  <a:srgbClr val="475569"/>
                </a:solidFill>
                <a:latin typeface="Segoe UI"/>
              </a:rPr>
              <a:t>→</a:t>
            </a:r>
          </a:p>
        </p:txBody>
      </p:sp>
      <p:sp>
        <p:nvSpPr>
          <p:cNvPr id="15" name="Rectangle 14"/>
          <p:cNvSpPr/>
          <p:nvPr/>
        </p:nvSpPr>
        <p:spPr>
          <a:xfrm>
            <a:off x="5852160" y="1737360"/>
            <a:ext cx="1691640" cy="457200"/>
          </a:xfrm>
          <a:prstGeom prst="rect">
            <a:avLst/>
          </a:prstGeom>
          <a:solidFill>
            <a:srgbClr val="0F172A"/>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25312" y="1783080"/>
            <a:ext cx="1554480" cy="365760"/>
          </a:xfrm>
          <a:prstGeom prst="rect">
            <a:avLst/>
          </a:prstGeom>
          <a:noFill/>
        </p:spPr>
        <p:txBody>
          <a:bodyPr wrap="square">
            <a:spAutoFit/>
          </a:bodyPr>
          <a:lstStyle/>
          <a:p>
            <a:pPr algn="ctr"/>
            <a:r>
              <a:rPr sz="1100" b="0" i="0">
                <a:solidFill>
                  <a:srgbClr val="475569"/>
                </a:solidFill>
                <a:latin typeface="Segoe UI"/>
              </a:rPr>
              <a:t>(0, 1.0)  ← rust</a:t>
            </a:r>
          </a:p>
        </p:txBody>
      </p:sp>
      <p:sp>
        <p:nvSpPr>
          <p:cNvPr id="17" name="TextBox 16"/>
          <p:cNvSpPr txBox="1"/>
          <p:nvPr/>
        </p:nvSpPr>
        <p:spPr>
          <a:xfrm>
            <a:off x="7498080" y="1783080"/>
            <a:ext cx="201168" cy="365760"/>
          </a:xfrm>
          <a:prstGeom prst="rect">
            <a:avLst/>
          </a:prstGeom>
          <a:noFill/>
        </p:spPr>
        <p:txBody>
          <a:bodyPr wrap="square">
            <a:spAutoFit/>
          </a:bodyPr>
          <a:lstStyle/>
          <a:p>
            <a:pPr algn="l"/>
            <a:r>
              <a:rPr sz="1400" b="0" i="0">
                <a:solidFill>
                  <a:srgbClr val="475569"/>
                </a:solidFill>
                <a:latin typeface="Segoe UI"/>
              </a:rPr>
              <a:t>→</a:t>
            </a:r>
          </a:p>
        </p:txBody>
      </p:sp>
      <p:sp>
        <p:nvSpPr>
          <p:cNvPr id="18" name="Rectangle 17"/>
          <p:cNvSpPr/>
          <p:nvPr/>
        </p:nvSpPr>
        <p:spPr>
          <a:xfrm>
            <a:off x="7635240" y="1737360"/>
            <a:ext cx="1691640" cy="45720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1783080"/>
            <a:ext cx="1554480" cy="365760"/>
          </a:xfrm>
          <a:prstGeom prst="rect">
            <a:avLst/>
          </a:prstGeom>
          <a:noFill/>
        </p:spPr>
        <p:txBody>
          <a:bodyPr wrap="square">
            <a:spAutoFit/>
          </a:bodyPr>
          <a:lstStyle/>
          <a:p>
            <a:pPr algn="ctr"/>
            <a:r>
              <a:rPr sz="1100" b="0" i="0">
                <a:solidFill>
                  <a:srgbClr val="38BDF8"/>
                </a:solidFill>
                <a:latin typeface="Segoe UI"/>
              </a:rPr>
              <a:t>(71, 2.0)</a:t>
            </a:r>
          </a:p>
        </p:txBody>
      </p:sp>
      <p:sp>
        <p:nvSpPr>
          <p:cNvPr id="20" name="TextBox 19"/>
          <p:cNvSpPr txBox="1"/>
          <p:nvPr/>
        </p:nvSpPr>
        <p:spPr>
          <a:xfrm>
            <a:off x="9281160" y="1783080"/>
            <a:ext cx="201168" cy="365760"/>
          </a:xfrm>
          <a:prstGeom prst="rect">
            <a:avLst/>
          </a:prstGeom>
          <a:noFill/>
        </p:spPr>
        <p:txBody>
          <a:bodyPr wrap="square">
            <a:spAutoFit/>
          </a:bodyPr>
          <a:lstStyle/>
          <a:p>
            <a:pPr algn="l"/>
            <a:r>
              <a:rPr sz="1400" b="0" i="0">
                <a:solidFill>
                  <a:srgbClr val="475569"/>
                </a:solidFill>
                <a:latin typeface="Segoe UI"/>
              </a:rPr>
              <a:t>→</a:t>
            </a:r>
          </a:p>
        </p:txBody>
      </p:sp>
      <p:sp>
        <p:nvSpPr>
          <p:cNvPr id="21" name="Rectangle 20"/>
          <p:cNvSpPr/>
          <p:nvPr/>
        </p:nvSpPr>
        <p:spPr>
          <a:xfrm>
            <a:off x="9418320" y="1737360"/>
            <a:ext cx="1691640" cy="457200"/>
          </a:xfrm>
          <a:prstGeom prst="rect">
            <a:avLst/>
          </a:prstGeom>
          <a:solidFill>
            <a:srgbClr val="0F172A"/>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91472" y="1783080"/>
            <a:ext cx="1554480" cy="365760"/>
          </a:xfrm>
          <a:prstGeom prst="rect">
            <a:avLst/>
          </a:prstGeom>
          <a:noFill/>
        </p:spPr>
        <p:txBody>
          <a:bodyPr wrap="square">
            <a:spAutoFit/>
          </a:bodyPr>
          <a:lstStyle/>
          <a:p>
            <a:pPr algn="ctr"/>
            <a:r>
              <a:rPr sz="1100" b="0" i="0">
                <a:solidFill>
                  <a:srgbClr val="475569"/>
                </a:solidFill>
                <a:latin typeface="Segoe UI"/>
              </a:rPr>
              <a:t>…</a:t>
            </a:r>
          </a:p>
        </p:txBody>
      </p:sp>
      <p:sp>
        <p:nvSpPr>
          <p:cNvPr id="23" name="Rectangle 22"/>
          <p:cNvSpPr/>
          <p:nvPr/>
        </p:nvSpPr>
        <p:spPr>
          <a:xfrm>
            <a:off x="502920" y="2514600"/>
            <a:ext cx="5394960" cy="182880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 y="2624328"/>
            <a:ext cx="5065776" cy="347472"/>
          </a:xfrm>
          <a:prstGeom prst="rect">
            <a:avLst/>
          </a:prstGeom>
          <a:noFill/>
        </p:spPr>
        <p:txBody>
          <a:bodyPr wrap="square">
            <a:spAutoFit/>
          </a:bodyPr>
          <a:lstStyle/>
          <a:p>
            <a:pPr algn="l"/>
            <a:r>
              <a:rPr sz="1400" b="1" i="0">
                <a:solidFill>
                  <a:srgbClr val="38BDF8"/>
                </a:solidFill>
                <a:latin typeface="Segoe UI"/>
              </a:rPr>
              <a:t>Duratierooster</a:t>
            </a:r>
          </a:p>
        </p:txBody>
      </p:sp>
      <p:sp>
        <p:nvSpPr>
          <p:cNvPr id="25" name="TextBox 24"/>
          <p:cNvSpPr txBox="1"/>
          <p:nvPr/>
        </p:nvSpPr>
        <p:spPr>
          <a:xfrm>
            <a:off x="667512" y="2990088"/>
            <a:ext cx="5065776" cy="1243584"/>
          </a:xfrm>
          <a:prstGeom prst="rect">
            <a:avLst/>
          </a:prstGeom>
          <a:noFill/>
        </p:spPr>
        <p:txBody>
          <a:bodyPr wrap="square">
            <a:spAutoFit/>
          </a:bodyPr>
          <a:lstStyle/>
          <a:p>
            <a:pPr algn="l"/>
            <a:r>
              <a:rPr sz="1100" b="0" i="0">
                <a:solidFill>
                  <a:srgbClr val="94A3B8"/>
                </a:solidFill>
                <a:latin typeface="Segoe UI"/>
              </a:rPr>
              <a:t>0.25 · 0.5 · 0.75 · 1.0 · 1.5 · 2.0 · 3.0 · 4.0
Micro-timings worden afgerond naar de dichtstbijzijnde waarde.</a:t>
            </a:r>
          </a:p>
        </p:txBody>
      </p:sp>
      <p:sp>
        <p:nvSpPr>
          <p:cNvPr id="26" name="Rectangle 25"/>
          <p:cNvSpPr/>
          <p:nvPr/>
        </p:nvSpPr>
        <p:spPr>
          <a:xfrm>
            <a:off x="6080760" y="2514600"/>
            <a:ext cx="5577840" cy="182880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45352" y="2624328"/>
            <a:ext cx="5248656" cy="347472"/>
          </a:xfrm>
          <a:prstGeom prst="rect">
            <a:avLst/>
          </a:prstGeom>
          <a:noFill/>
        </p:spPr>
        <p:txBody>
          <a:bodyPr wrap="square">
            <a:spAutoFit/>
          </a:bodyPr>
          <a:lstStyle/>
          <a:p>
            <a:pPr algn="l"/>
            <a:r>
              <a:rPr sz="1400" b="1" i="0">
                <a:solidFill>
                  <a:srgbClr val="F59E0B"/>
                </a:solidFill>
                <a:latin typeface="Segoe UI"/>
              </a:rPr>
              <a:t>Vocabulaire</a:t>
            </a:r>
          </a:p>
        </p:txBody>
      </p:sp>
      <p:sp>
        <p:nvSpPr>
          <p:cNvPr id="28" name="TextBox 27"/>
          <p:cNvSpPr txBox="1"/>
          <p:nvPr/>
        </p:nvSpPr>
        <p:spPr>
          <a:xfrm>
            <a:off x="6245352" y="2990088"/>
            <a:ext cx="5248656" cy="1243584"/>
          </a:xfrm>
          <a:prstGeom prst="rect">
            <a:avLst/>
          </a:prstGeom>
          <a:noFill/>
        </p:spPr>
        <p:txBody>
          <a:bodyPr wrap="square">
            <a:spAutoFit/>
          </a:bodyPr>
          <a:lstStyle/>
          <a:p>
            <a:pPr algn="l"/>
            <a:r>
              <a:rPr sz="1100" b="0" i="0">
                <a:solidFill>
                  <a:srgbClr val="94A3B8"/>
                </a:solidFill>
                <a:latin typeface="Segoe UI"/>
              </a:rPr>
              <a:t>(pitch, duur) → integer index
Alle unieke tokens in het trainingskorpus worden genummerd en opgeslagen als .pkl-bestand naast het model.</a:t>
            </a:r>
          </a:p>
        </p:txBody>
      </p:sp>
      <p:sp>
        <p:nvSpPr>
          <p:cNvPr id="29" name="Rectangle 28"/>
          <p:cNvSpPr/>
          <p:nvPr/>
        </p:nvSpPr>
        <p:spPr>
          <a:xfrm>
            <a:off x="502920" y="4663440"/>
            <a:ext cx="11155680" cy="777240"/>
          </a:xfrm>
          <a:prstGeom prst="rect">
            <a:avLst/>
          </a:prstGeom>
          <a:solidFill>
            <a:srgbClr val="0E283A"/>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754880"/>
            <a:ext cx="10698480" cy="594360"/>
          </a:xfrm>
          <a:prstGeom prst="rect">
            <a:avLst/>
          </a:prstGeom>
          <a:noFill/>
        </p:spPr>
        <p:txBody>
          <a:bodyPr wrap="square">
            <a:spAutoFit/>
          </a:bodyPr>
          <a:lstStyle/>
          <a:p>
            <a:pPr algn="l"/>
            <a:r>
              <a:rPr sz="1300" b="0" i="0">
                <a:solidFill>
                  <a:srgbClr val="E2E8F0"/>
                </a:solidFill>
                <a:latin typeface="Segoe UI"/>
              </a:rPr>
              <a:t>Bij akkoorden: alleen de hoogste noot wordt gebruikt → compacter vocabulaire, melodielijn behouden.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LSTM-architectuur</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Het model leert: gegeven de laatste N tokens, wat komt er hierna?</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6858000" cy="5074920"/>
          </a:xfrm>
          <a:prstGeom prst="rect">
            <a:avLst/>
          </a:prstGeom>
          <a:solidFill>
            <a:srgbClr val="020617"/>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08760"/>
            <a:ext cx="6492240" cy="4846320"/>
          </a:xfrm>
          <a:prstGeom prst="rect">
            <a:avLst/>
          </a:prstGeom>
          <a:noFill/>
        </p:spPr>
        <p:txBody>
          <a:bodyPr wrap="square">
            <a:spAutoFit/>
          </a:bodyPr>
          <a:lstStyle/>
          <a:p>
            <a:pPr algn="l"/>
            <a:r>
              <a:rPr sz="1100" b="0" i="0">
                <a:solidFill>
                  <a:srgbClr val="A8B4C8"/>
                </a:solidFill>
                <a:latin typeface="Segoe UI"/>
              </a:rPr>
              <a:t>class LSTMModel(nn.Module):
    def __init__(self, vocab,
                 embed_dim=64,
                 hidden=256,
                 lagen=2,
                 dropout=0.3):
        self.embedding = nn.Embedding(vocab, embed_dim)
        self.lstm      = nn.LSTM(embed_dim, hidden,
                                num_layers=lagen, ...)
        self.dropout   = nn.Dropout(dropout)
        self.fc        = nn.Linear(hidden, vocab)
    def forward(self, x):
        x = self.embedding(x)       # tokens → vectors
        out, _ = self.lstm(x)        # contextuele verwerking
        return self.fc(self.dropout( # logits per token
            out[:, -1, :]))</a:t>
            </a:r>
          </a:p>
        </p:txBody>
      </p:sp>
      <p:sp>
        <p:nvSpPr>
          <p:cNvPr id="7" name="Rectangle 6"/>
          <p:cNvSpPr/>
          <p:nvPr/>
        </p:nvSpPr>
        <p:spPr>
          <a:xfrm>
            <a:off x="7680960" y="1417320"/>
            <a:ext cx="4114800" cy="640080"/>
          </a:xfrm>
          <a:prstGeom prst="rect">
            <a:avLst/>
          </a:prstGeom>
          <a:solidFill>
            <a:srgbClr val="0E20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90688" y="1527048"/>
            <a:ext cx="3895344" cy="420624"/>
          </a:xfrm>
          <a:prstGeom prst="rect">
            <a:avLst/>
          </a:prstGeom>
          <a:noFill/>
        </p:spPr>
        <p:txBody>
          <a:bodyPr wrap="square">
            <a:spAutoFit/>
          </a:bodyPr>
          <a:lstStyle/>
          <a:p>
            <a:pPr algn="ctr"/>
            <a:r>
              <a:rPr sz="1300" b="1" i="0">
                <a:solidFill>
                  <a:srgbClr val="38BDF8"/>
                </a:solidFill>
                <a:latin typeface="Segoe UI"/>
              </a:rPr>
              <a:t>Embedding  —  vocab → 64</a:t>
            </a:r>
          </a:p>
        </p:txBody>
      </p:sp>
      <p:sp>
        <p:nvSpPr>
          <p:cNvPr id="9" name="TextBox 8"/>
          <p:cNvSpPr txBox="1"/>
          <p:nvPr/>
        </p:nvSpPr>
        <p:spPr>
          <a:xfrm>
            <a:off x="7680960" y="2039112"/>
            <a:ext cx="4114800" cy="201168"/>
          </a:xfrm>
          <a:prstGeom prst="rect">
            <a:avLst/>
          </a:prstGeom>
          <a:noFill/>
        </p:spPr>
        <p:txBody>
          <a:bodyPr wrap="square">
            <a:spAutoFit/>
          </a:bodyPr>
          <a:lstStyle/>
          <a:p>
            <a:pPr algn="ctr"/>
            <a:r>
              <a:rPr sz="1400" b="0" i="0">
                <a:solidFill>
                  <a:srgbClr val="475569"/>
                </a:solidFill>
                <a:latin typeface="Segoe UI"/>
              </a:rPr>
              <a:t>↓</a:t>
            </a:r>
          </a:p>
        </p:txBody>
      </p:sp>
      <p:sp>
        <p:nvSpPr>
          <p:cNvPr id="10" name="Rectangle 9"/>
          <p:cNvSpPr/>
          <p:nvPr/>
        </p:nvSpPr>
        <p:spPr>
          <a:xfrm>
            <a:off x="7680960" y="2148840"/>
            <a:ext cx="4114800" cy="640080"/>
          </a:xfrm>
          <a:prstGeom prst="rect">
            <a:avLst/>
          </a:prstGeom>
          <a:solidFill>
            <a:srgbClr val="0E2035"/>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0688" y="2258568"/>
            <a:ext cx="3895344" cy="420624"/>
          </a:xfrm>
          <a:prstGeom prst="rect">
            <a:avLst/>
          </a:prstGeom>
          <a:noFill/>
        </p:spPr>
        <p:txBody>
          <a:bodyPr wrap="square">
            <a:spAutoFit/>
          </a:bodyPr>
          <a:lstStyle/>
          <a:p>
            <a:pPr algn="ctr"/>
            <a:r>
              <a:rPr sz="1300" b="1" i="0">
                <a:solidFill>
                  <a:srgbClr val="A78BFA"/>
                </a:solidFill>
                <a:latin typeface="Segoe UI"/>
              </a:rPr>
              <a:t>LSTM × 2 lagen  —  64 → 256 hidden</a:t>
            </a:r>
          </a:p>
        </p:txBody>
      </p:sp>
      <p:sp>
        <p:nvSpPr>
          <p:cNvPr id="12" name="TextBox 11"/>
          <p:cNvSpPr txBox="1"/>
          <p:nvPr/>
        </p:nvSpPr>
        <p:spPr>
          <a:xfrm>
            <a:off x="7680960" y="2770632"/>
            <a:ext cx="4114800" cy="201168"/>
          </a:xfrm>
          <a:prstGeom prst="rect">
            <a:avLst/>
          </a:prstGeom>
          <a:noFill/>
        </p:spPr>
        <p:txBody>
          <a:bodyPr wrap="square">
            <a:spAutoFit/>
          </a:bodyPr>
          <a:lstStyle/>
          <a:p>
            <a:pPr algn="ctr"/>
            <a:r>
              <a:rPr sz="1400" b="0" i="0">
                <a:solidFill>
                  <a:srgbClr val="475569"/>
                </a:solidFill>
                <a:latin typeface="Segoe UI"/>
              </a:rPr>
              <a:t>↓</a:t>
            </a:r>
          </a:p>
        </p:txBody>
      </p:sp>
      <p:sp>
        <p:nvSpPr>
          <p:cNvPr id="13" name="Rectangle 12"/>
          <p:cNvSpPr/>
          <p:nvPr/>
        </p:nvSpPr>
        <p:spPr>
          <a:xfrm>
            <a:off x="7680960" y="2880360"/>
            <a:ext cx="4114800" cy="640080"/>
          </a:xfrm>
          <a:prstGeom prst="rect">
            <a:avLst/>
          </a:prstGeom>
          <a:solidFill>
            <a:srgbClr val="0E2035"/>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0688" y="2990088"/>
            <a:ext cx="3895344" cy="420624"/>
          </a:xfrm>
          <a:prstGeom prst="rect">
            <a:avLst/>
          </a:prstGeom>
          <a:noFill/>
        </p:spPr>
        <p:txBody>
          <a:bodyPr wrap="square">
            <a:spAutoFit/>
          </a:bodyPr>
          <a:lstStyle/>
          <a:p>
            <a:pPr algn="ctr"/>
            <a:r>
              <a:rPr sz="1300" b="1" i="0">
                <a:solidFill>
                  <a:srgbClr val="475569"/>
                </a:solidFill>
                <a:latin typeface="Segoe UI"/>
              </a:rPr>
              <a:t>Dropout (0.3)</a:t>
            </a:r>
          </a:p>
        </p:txBody>
      </p:sp>
      <p:sp>
        <p:nvSpPr>
          <p:cNvPr id="15" name="TextBox 14"/>
          <p:cNvSpPr txBox="1"/>
          <p:nvPr/>
        </p:nvSpPr>
        <p:spPr>
          <a:xfrm>
            <a:off x="7680960" y="3502152"/>
            <a:ext cx="4114800" cy="201168"/>
          </a:xfrm>
          <a:prstGeom prst="rect">
            <a:avLst/>
          </a:prstGeom>
          <a:noFill/>
        </p:spPr>
        <p:txBody>
          <a:bodyPr wrap="square">
            <a:spAutoFit/>
          </a:bodyPr>
          <a:lstStyle/>
          <a:p>
            <a:pPr algn="ctr"/>
            <a:r>
              <a:rPr sz="1400" b="0" i="0">
                <a:solidFill>
                  <a:srgbClr val="475569"/>
                </a:solidFill>
                <a:latin typeface="Segoe UI"/>
              </a:rPr>
              <a:t>↓</a:t>
            </a:r>
          </a:p>
        </p:txBody>
      </p:sp>
      <p:sp>
        <p:nvSpPr>
          <p:cNvPr id="16" name="Rectangle 15"/>
          <p:cNvSpPr/>
          <p:nvPr/>
        </p:nvSpPr>
        <p:spPr>
          <a:xfrm>
            <a:off x="7680960" y="3611880"/>
            <a:ext cx="4114800" cy="640080"/>
          </a:xfrm>
          <a:prstGeom prst="rect">
            <a:avLst/>
          </a:prstGeom>
          <a:solidFill>
            <a:srgbClr val="0E20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90688" y="3721608"/>
            <a:ext cx="3895344" cy="420624"/>
          </a:xfrm>
          <a:prstGeom prst="rect">
            <a:avLst/>
          </a:prstGeom>
          <a:noFill/>
        </p:spPr>
        <p:txBody>
          <a:bodyPr wrap="square">
            <a:spAutoFit/>
          </a:bodyPr>
          <a:lstStyle/>
          <a:p>
            <a:pPr algn="ctr"/>
            <a:r>
              <a:rPr sz="1300" b="1" i="0">
                <a:solidFill>
                  <a:srgbClr val="F59E0B"/>
                </a:solidFill>
                <a:latin typeface="Segoe UI"/>
              </a:rPr>
              <a:t>Linear  —  256 → vocab</a:t>
            </a:r>
          </a:p>
        </p:txBody>
      </p:sp>
      <p:sp>
        <p:nvSpPr>
          <p:cNvPr id="18" name="TextBox 17"/>
          <p:cNvSpPr txBox="1"/>
          <p:nvPr/>
        </p:nvSpPr>
        <p:spPr>
          <a:xfrm>
            <a:off x="7680960" y="4233672"/>
            <a:ext cx="4114800" cy="201168"/>
          </a:xfrm>
          <a:prstGeom prst="rect">
            <a:avLst/>
          </a:prstGeom>
          <a:noFill/>
        </p:spPr>
        <p:txBody>
          <a:bodyPr wrap="square">
            <a:spAutoFit/>
          </a:bodyPr>
          <a:lstStyle/>
          <a:p>
            <a:pPr algn="ctr"/>
            <a:r>
              <a:rPr sz="1400" b="0" i="0">
                <a:solidFill>
                  <a:srgbClr val="475569"/>
                </a:solidFill>
                <a:latin typeface="Segoe UI"/>
              </a:rPr>
              <a:t>↓</a:t>
            </a:r>
          </a:p>
        </p:txBody>
      </p:sp>
      <p:sp>
        <p:nvSpPr>
          <p:cNvPr id="19" name="Rectangle 18"/>
          <p:cNvSpPr/>
          <p:nvPr/>
        </p:nvSpPr>
        <p:spPr>
          <a:xfrm>
            <a:off x="7680960" y="4343400"/>
            <a:ext cx="4114800" cy="640080"/>
          </a:xfrm>
          <a:prstGeom prst="rect">
            <a:avLst/>
          </a:prstGeom>
          <a:solidFill>
            <a:srgbClr val="0E203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90688" y="4453128"/>
            <a:ext cx="3895344" cy="420624"/>
          </a:xfrm>
          <a:prstGeom prst="rect">
            <a:avLst/>
          </a:prstGeom>
          <a:noFill/>
        </p:spPr>
        <p:txBody>
          <a:bodyPr wrap="square">
            <a:spAutoFit/>
          </a:bodyPr>
          <a:lstStyle/>
          <a:p>
            <a:pPr algn="ctr"/>
            <a:r>
              <a:rPr sz="1300" b="1" i="0">
                <a:solidFill>
                  <a:srgbClr val="10B981"/>
                </a:solidFill>
                <a:latin typeface="Segoe UI"/>
              </a:rPr>
              <a:t>Logits (kansen)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Training</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Sliding-window sequenties · early stopping · GPU-ondersteuning</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5669280" cy="2194560"/>
          </a:xfrm>
          <a:prstGeom prst="rect">
            <a:avLst/>
          </a:prstGeom>
          <a:solidFill>
            <a:srgbClr val="020617"/>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08760"/>
            <a:ext cx="5303520" cy="2011680"/>
          </a:xfrm>
          <a:prstGeom prst="rect">
            <a:avLst/>
          </a:prstGeom>
          <a:noFill/>
        </p:spPr>
        <p:txBody>
          <a:bodyPr wrap="square">
            <a:spAutoFit/>
          </a:bodyPr>
          <a:lstStyle/>
          <a:p>
            <a:pPr algn="l"/>
            <a:r>
              <a:rPr sz="1200" b="0" i="0">
                <a:solidFill>
                  <a:srgbClr val="A8B4C8"/>
                </a:solidFill>
                <a:latin typeface="Segoe UI"/>
              </a:rPr>
              <a:t># tokens: [t0, t1, t2, ... t20]
# venster = 16:
X[0] = [t0 … t15],  y[0] = t16
X[1] = [t1 … t16],  y[1] = t17
...</a:t>
            </a:r>
          </a:p>
        </p:txBody>
      </p:sp>
      <p:sp>
        <p:nvSpPr>
          <p:cNvPr id="7" name="TextBox 6"/>
          <p:cNvSpPr txBox="1"/>
          <p:nvPr/>
        </p:nvSpPr>
        <p:spPr>
          <a:xfrm>
            <a:off x="502920" y="3840480"/>
            <a:ext cx="2011680" cy="347472"/>
          </a:xfrm>
          <a:prstGeom prst="rect">
            <a:avLst/>
          </a:prstGeom>
          <a:noFill/>
        </p:spPr>
        <p:txBody>
          <a:bodyPr wrap="square">
            <a:spAutoFit/>
          </a:bodyPr>
          <a:lstStyle/>
          <a:p>
            <a:pPr algn="l"/>
            <a:r>
              <a:rPr sz="1200" b="1" i="0">
                <a:solidFill>
                  <a:srgbClr val="38BDF8"/>
                </a:solidFill>
                <a:latin typeface="Segoe UI"/>
              </a:rPr>
              <a:t>•  Venster</a:t>
            </a:r>
          </a:p>
        </p:txBody>
      </p:sp>
      <p:sp>
        <p:nvSpPr>
          <p:cNvPr id="8" name="TextBox 7"/>
          <p:cNvSpPr txBox="1"/>
          <p:nvPr/>
        </p:nvSpPr>
        <p:spPr>
          <a:xfrm>
            <a:off x="2514600" y="3840480"/>
            <a:ext cx="3657600" cy="347472"/>
          </a:xfrm>
          <a:prstGeom prst="rect">
            <a:avLst/>
          </a:prstGeom>
          <a:noFill/>
        </p:spPr>
        <p:txBody>
          <a:bodyPr wrap="square">
            <a:spAutoFit/>
          </a:bodyPr>
          <a:lstStyle/>
          <a:p>
            <a:pPr algn="l"/>
            <a:r>
              <a:rPr sz="1200" b="0" i="0">
                <a:solidFill>
                  <a:srgbClr val="94A3B8"/>
                </a:solidFill>
                <a:latin typeface="Segoe UI"/>
              </a:rPr>
              <a:t>context-lengte  (standaard 16)</a:t>
            </a:r>
          </a:p>
        </p:txBody>
      </p:sp>
      <p:sp>
        <p:nvSpPr>
          <p:cNvPr id="9" name="TextBox 8"/>
          <p:cNvSpPr txBox="1"/>
          <p:nvPr/>
        </p:nvSpPr>
        <p:spPr>
          <a:xfrm>
            <a:off x="502920" y="4187952"/>
            <a:ext cx="2011680" cy="347472"/>
          </a:xfrm>
          <a:prstGeom prst="rect">
            <a:avLst/>
          </a:prstGeom>
          <a:noFill/>
        </p:spPr>
        <p:txBody>
          <a:bodyPr wrap="square">
            <a:spAutoFit/>
          </a:bodyPr>
          <a:lstStyle/>
          <a:p>
            <a:pPr algn="l"/>
            <a:r>
              <a:rPr sz="1200" b="1" i="0">
                <a:solidFill>
                  <a:srgbClr val="38BDF8"/>
                </a:solidFill>
                <a:latin typeface="Segoe UI"/>
              </a:rPr>
              <a:t>•  Hidden</a:t>
            </a:r>
          </a:p>
        </p:txBody>
      </p:sp>
      <p:sp>
        <p:nvSpPr>
          <p:cNvPr id="10" name="TextBox 9"/>
          <p:cNvSpPr txBox="1"/>
          <p:nvPr/>
        </p:nvSpPr>
        <p:spPr>
          <a:xfrm>
            <a:off x="2514600" y="4187952"/>
            <a:ext cx="3657600" cy="347472"/>
          </a:xfrm>
          <a:prstGeom prst="rect">
            <a:avLst/>
          </a:prstGeom>
          <a:noFill/>
        </p:spPr>
        <p:txBody>
          <a:bodyPr wrap="square">
            <a:spAutoFit/>
          </a:bodyPr>
          <a:lstStyle/>
          <a:p>
            <a:pPr algn="l"/>
            <a:r>
              <a:rPr sz="1200" b="0" i="0">
                <a:solidFill>
                  <a:srgbClr val="94A3B8"/>
                </a:solidFill>
                <a:latin typeface="Segoe UI"/>
              </a:rPr>
              <a:t>64 – 512 units per LSTM-laag</a:t>
            </a:r>
          </a:p>
        </p:txBody>
      </p:sp>
      <p:sp>
        <p:nvSpPr>
          <p:cNvPr id="11" name="TextBox 10"/>
          <p:cNvSpPr txBox="1"/>
          <p:nvPr/>
        </p:nvSpPr>
        <p:spPr>
          <a:xfrm>
            <a:off x="502920" y="4535424"/>
            <a:ext cx="2011680" cy="347472"/>
          </a:xfrm>
          <a:prstGeom prst="rect">
            <a:avLst/>
          </a:prstGeom>
          <a:noFill/>
        </p:spPr>
        <p:txBody>
          <a:bodyPr wrap="square">
            <a:spAutoFit/>
          </a:bodyPr>
          <a:lstStyle/>
          <a:p>
            <a:pPr algn="l"/>
            <a:r>
              <a:rPr sz="1200" b="1" i="0">
                <a:solidFill>
                  <a:srgbClr val="38BDF8"/>
                </a:solidFill>
                <a:latin typeface="Segoe UI"/>
              </a:rPr>
              <a:t>•  Lagen</a:t>
            </a:r>
          </a:p>
        </p:txBody>
      </p:sp>
      <p:sp>
        <p:nvSpPr>
          <p:cNvPr id="12" name="TextBox 11"/>
          <p:cNvSpPr txBox="1"/>
          <p:nvPr/>
        </p:nvSpPr>
        <p:spPr>
          <a:xfrm>
            <a:off x="2514600" y="4535424"/>
            <a:ext cx="3657600" cy="347472"/>
          </a:xfrm>
          <a:prstGeom prst="rect">
            <a:avLst/>
          </a:prstGeom>
          <a:noFill/>
        </p:spPr>
        <p:txBody>
          <a:bodyPr wrap="square">
            <a:spAutoFit/>
          </a:bodyPr>
          <a:lstStyle/>
          <a:p>
            <a:pPr algn="l"/>
            <a:r>
              <a:rPr sz="1200" b="0" i="0">
                <a:solidFill>
                  <a:srgbClr val="94A3B8"/>
                </a:solidFill>
                <a:latin typeface="Segoe UI"/>
              </a:rPr>
              <a:t>1 – 4 gestapelde LSTM-lagen</a:t>
            </a:r>
          </a:p>
        </p:txBody>
      </p:sp>
      <p:sp>
        <p:nvSpPr>
          <p:cNvPr id="13" name="TextBox 12"/>
          <p:cNvSpPr txBox="1"/>
          <p:nvPr/>
        </p:nvSpPr>
        <p:spPr>
          <a:xfrm>
            <a:off x="502920" y="4882896"/>
            <a:ext cx="2011680" cy="347472"/>
          </a:xfrm>
          <a:prstGeom prst="rect">
            <a:avLst/>
          </a:prstGeom>
          <a:noFill/>
        </p:spPr>
        <p:txBody>
          <a:bodyPr wrap="square">
            <a:spAutoFit/>
          </a:bodyPr>
          <a:lstStyle/>
          <a:p>
            <a:pPr algn="l"/>
            <a:r>
              <a:rPr sz="1200" b="1" i="0">
                <a:solidFill>
                  <a:srgbClr val="38BDF8"/>
                </a:solidFill>
                <a:latin typeface="Segoe UI"/>
              </a:rPr>
              <a:t>•  Epochs</a:t>
            </a:r>
          </a:p>
        </p:txBody>
      </p:sp>
      <p:sp>
        <p:nvSpPr>
          <p:cNvPr id="14" name="TextBox 13"/>
          <p:cNvSpPr txBox="1"/>
          <p:nvPr/>
        </p:nvSpPr>
        <p:spPr>
          <a:xfrm>
            <a:off x="2514600" y="4882896"/>
            <a:ext cx="3657600" cy="347472"/>
          </a:xfrm>
          <a:prstGeom prst="rect">
            <a:avLst/>
          </a:prstGeom>
          <a:noFill/>
        </p:spPr>
        <p:txBody>
          <a:bodyPr wrap="square">
            <a:spAutoFit/>
          </a:bodyPr>
          <a:lstStyle/>
          <a:p>
            <a:pPr algn="l"/>
            <a:r>
              <a:rPr sz="1200" b="0" i="0">
                <a:solidFill>
                  <a:srgbClr val="94A3B8"/>
                </a:solidFill>
                <a:latin typeface="Segoe UI"/>
              </a:rPr>
              <a:t>max 5 – 200  (early stopping)</a:t>
            </a:r>
          </a:p>
        </p:txBody>
      </p:sp>
      <p:sp>
        <p:nvSpPr>
          <p:cNvPr id="15" name="TextBox 14"/>
          <p:cNvSpPr txBox="1"/>
          <p:nvPr/>
        </p:nvSpPr>
        <p:spPr>
          <a:xfrm>
            <a:off x="502920" y="5230368"/>
            <a:ext cx="2011680" cy="347472"/>
          </a:xfrm>
          <a:prstGeom prst="rect">
            <a:avLst/>
          </a:prstGeom>
          <a:noFill/>
        </p:spPr>
        <p:txBody>
          <a:bodyPr wrap="square">
            <a:spAutoFit/>
          </a:bodyPr>
          <a:lstStyle/>
          <a:p>
            <a:pPr algn="l"/>
            <a:r>
              <a:rPr sz="1200" b="1" i="0">
                <a:solidFill>
                  <a:srgbClr val="38BDF8"/>
                </a:solidFill>
                <a:latin typeface="Segoe UI"/>
              </a:rPr>
              <a:t>•  Geduld</a:t>
            </a:r>
          </a:p>
        </p:txBody>
      </p:sp>
      <p:sp>
        <p:nvSpPr>
          <p:cNvPr id="16" name="TextBox 15"/>
          <p:cNvSpPr txBox="1"/>
          <p:nvPr/>
        </p:nvSpPr>
        <p:spPr>
          <a:xfrm>
            <a:off x="2514600" y="5230368"/>
            <a:ext cx="3657600" cy="347472"/>
          </a:xfrm>
          <a:prstGeom prst="rect">
            <a:avLst/>
          </a:prstGeom>
          <a:noFill/>
        </p:spPr>
        <p:txBody>
          <a:bodyPr wrap="square">
            <a:spAutoFit/>
          </a:bodyPr>
          <a:lstStyle/>
          <a:p>
            <a:pPr algn="l"/>
            <a:r>
              <a:rPr sz="1200" b="0" i="0">
                <a:solidFill>
                  <a:srgbClr val="94A3B8"/>
                </a:solidFill>
                <a:latin typeface="Segoe UI"/>
              </a:rPr>
              <a:t>stop na N epochs zonder verbetering</a:t>
            </a:r>
          </a:p>
        </p:txBody>
      </p:sp>
      <p:sp>
        <p:nvSpPr>
          <p:cNvPr id="17" name="TextBox 16"/>
          <p:cNvSpPr txBox="1"/>
          <p:nvPr/>
        </p:nvSpPr>
        <p:spPr>
          <a:xfrm>
            <a:off x="502920" y="5577840"/>
            <a:ext cx="2011680" cy="347472"/>
          </a:xfrm>
          <a:prstGeom prst="rect">
            <a:avLst/>
          </a:prstGeom>
          <a:noFill/>
        </p:spPr>
        <p:txBody>
          <a:bodyPr wrap="square">
            <a:spAutoFit/>
          </a:bodyPr>
          <a:lstStyle/>
          <a:p>
            <a:pPr algn="l"/>
            <a:r>
              <a:rPr sz="1200" b="1" i="0">
                <a:solidFill>
                  <a:srgbClr val="38BDF8"/>
                </a:solidFill>
                <a:latin typeface="Segoe UI"/>
              </a:rPr>
              <a:t>•  Validatie</a:t>
            </a:r>
          </a:p>
        </p:txBody>
      </p:sp>
      <p:sp>
        <p:nvSpPr>
          <p:cNvPr id="18" name="TextBox 17"/>
          <p:cNvSpPr txBox="1"/>
          <p:nvPr/>
        </p:nvSpPr>
        <p:spPr>
          <a:xfrm>
            <a:off x="2514600" y="5577840"/>
            <a:ext cx="3657600" cy="347472"/>
          </a:xfrm>
          <a:prstGeom prst="rect">
            <a:avLst/>
          </a:prstGeom>
          <a:noFill/>
        </p:spPr>
        <p:txBody>
          <a:bodyPr wrap="square">
            <a:spAutoFit/>
          </a:bodyPr>
          <a:lstStyle/>
          <a:p>
            <a:pPr algn="l"/>
            <a:r>
              <a:rPr sz="1200" b="0" i="0">
                <a:solidFill>
                  <a:srgbClr val="94A3B8"/>
                </a:solidFill>
                <a:latin typeface="Segoe UI"/>
              </a:rPr>
              <a:t>80 / 20 train-validatie split</a:t>
            </a:r>
          </a:p>
        </p:txBody>
      </p:sp>
      <p:sp>
        <p:nvSpPr>
          <p:cNvPr id="19" name="Rectangle 18"/>
          <p:cNvSpPr/>
          <p:nvPr/>
        </p:nvSpPr>
        <p:spPr>
          <a:xfrm>
            <a:off x="6400800" y="1417320"/>
            <a:ext cx="5257800" cy="132588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1527048"/>
            <a:ext cx="4928616" cy="347472"/>
          </a:xfrm>
          <a:prstGeom prst="rect">
            <a:avLst/>
          </a:prstGeom>
          <a:noFill/>
        </p:spPr>
        <p:txBody>
          <a:bodyPr wrap="square">
            <a:spAutoFit/>
          </a:bodyPr>
          <a:lstStyle/>
          <a:p>
            <a:pPr algn="l"/>
            <a:r>
              <a:rPr sz="1400" b="1" i="0">
                <a:solidFill>
                  <a:srgbClr val="38BDF8"/>
                </a:solidFill>
                <a:latin typeface="Segoe UI"/>
              </a:rPr>
              <a:t>🔄  Early stopping</a:t>
            </a:r>
          </a:p>
        </p:txBody>
      </p:sp>
      <p:sp>
        <p:nvSpPr>
          <p:cNvPr id="21" name="TextBox 20"/>
          <p:cNvSpPr txBox="1"/>
          <p:nvPr/>
        </p:nvSpPr>
        <p:spPr>
          <a:xfrm>
            <a:off x="6565392" y="1892808"/>
            <a:ext cx="4928616" cy="740664"/>
          </a:xfrm>
          <a:prstGeom prst="rect">
            <a:avLst/>
          </a:prstGeom>
          <a:noFill/>
        </p:spPr>
        <p:txBody>
          <a:bodyPr wrap="square">
            <a:spAutoFit/>
          </a:bodyPr>
          <a:lstStyle/>
          <a:p>
            <a:pPr algn="l"/>
            <a:r>
              <a:rPr sz="1100" b="0" i="0">
                <a:solidFill>
                  <a:srgbClr val="94A3B8"/>
                </a:solidFill>
                <a:latin typeface="Segoe UI"/>
              </a:rPr>
              <a:t>Bewaard het model met het laagste validatieverlies — niet het laatste epoch.</a:t>
            </a:r>
          </a:p>
        </p:txBody>
      </p:sp>
      <p:sp>
        <p:nvSpPr>
          <p:cNvPr id="22" name="Rectangle 21"/>
          <p:cNvSpPr/>
          <p:nvPr/>
        </p:nvSpPr>
        <p:spPr>
          <a:xfrm>
            <a:off x="6400800" y="2834640"/>
            <a:ext cx="5257800" cy="132588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2944368"/>
            <a:ext cx="4928616" cy="347472"/>
          </a:xfrm>
          <a:prstGeom prst="rect">
            <a:avLst/>
          </a:prstGeom>
          <a:noFill/>
        </p:spPr>
        <p:txBody>
          <a:bodyPr wrap="square">
            <a:spAutoFit/>
          </a:bodyPr>
          <a:lstStyle/>
          <a:p>
            <a:pPr algn="l"/>
            <a:r>
              <a:rPr sz="1400" b="1" i="0">
                <a:solidFill>
                  <a:srgbClr val="A78BFA"/>
                </a:solidFill>
                <a:latin typeface="Segoe UI"/>
              </a:rPr>
              <a:t>⚡  GPU-ondersteuning</a:t>
            </a:r>
          </a:p>
        </p:txBody>
      </p:sp>
      <p:sp>
        <p:nvSpPr>
          <p:cNvPr id="24" name="TextBox 23"/>
          <p:cNvSpPr txBox="1"/>
          <p:nvPr/>
        </p:nvSpPr>
        <p:spPr>
          <a:xfrm>
            <a:off x="6565392" y="3310128"/>
            <a:ext cx="4928616" cy="740664"/>
          </a:xfrm>
          <a:prstGeom prst="rect">
            <a:avLst/>
          </a:prstGeom>
          <a:noFill/>
        </p:spPr>
        <p:txBody>
          <a:bodyPr wrap="square">
            <a:spAutoFit/>
          </a:bodyPr>
          <a:lstStyle/>
          <a:p>
            <a:pPr algn="l"/>
            <a:r>
              <a:rPr sz="1100" b="0" i="0">
                <a:solidFill>
                  <a:srgbClr val="94A3B8"/>
                </a:solidFill>
                <a:latin typeface="Segoe UI"/>
              </a:rPr>
              <a:t>Automatische detectie:
Intel Arc (XPU) → NVIDIA (CUDA) → CPU.</a:t>
            </a:r>
          </a:p>
        </p:txBody>
      </p:sp>
      <p:sp>
        <p:nvSpPr>
          <p:cNvPr id="25" name="Rectangle 24"/>
          <p:cNvSpPr/>
          <p:nvPr/>
        </p:nvSpPr>
        <p:spPr>
          <a:xfrm>
            <a:off x="6400800" y="4251960"/>
            <a:ext cx="5257800" cy="132588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4361688"/>
            <a:ext cx="4928616" cy="347472"/>
          </a:xfrm>
          <a:prstGeom prst="rect">
            <a:avLst/>
          </a:prstGeom>
          <a:noFill/>
        </p:spPr>
        <p:txBody>
          <a:bodyPr wrap="square">
            <a:spAutoFit/>
          </a:bodyPr>
          <a:lstStyle/>
          <a:p>
            <a:pPr algn="l"/>
            <a:r>
              <a:rPr sz="1400" b="1" i="0">
                <a:solidFill>
                  <a:srgbClr val="F59E0B"/>
                </a:solidFill>
                <a:latin typeface="Segoe UI"/>
              </a:rPr>
              <a:t>✂️  Gradient clipping</a:t>
            </a:r>
          </a:p>
        </p:txBody>
      </p:sp>
      <p:sp>
        <p:nvSpPr>
          <p:cNvPr id="27" name="TextBox 26"/>
          <p:cNvSpPr txBox="1"/>
          <p:nvPr/>
        </p:nvSpPr>
        <p:spPr>
          <a:xfrm>
            <a:off x="6565392" y="4727448"/>
            <a:ext cx="4928616" cy="740664"/>
          </a:xfrm>
          <a:prstGeom prst="rect">
            <a:avLst/>
          </a:prstGeom>
          <a:noFill/>
        </p:spPr>
        <p:txBody>
          <a:bodyPr wrap="square">
            <a:spAutoFit/>
          </a:bodyPr>
          <a:lstStyle/>
          <a:p>
            <a:pPr algn="l"/>
            <a:r>
              <a:rPr sz="1100" b="0" i="0">
                <a:solidFill>
                  <a:srgbClr val="94A3B8"/>
                </a:solidFill>
                <a:latin typeface="Segoe UI"/>
              </a:rPr>
              <a:t>Max norm 1.0 voorkomt exploderende gradiënten bij lange sequenties.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Modus A — Aanvulling</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Eerste helft als seed · origineel ritme behouden · toonaard-filter actief</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5577840"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80760" y="1417320"/>
            <a:ext cx="5577840"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01368"/>
            <a:ext cx="5486400" cy="292608"/>
          </a:xfrm>
          <a:prstGeom prst="rect">
            <a:avLst/>
          </a:prstGeom>
          <a:noFill/>
        </p:spPr>
        <p:txBody>
          <a:bodyPr wrap="square">
            <a:spAutoFit/>
          </a:bodyPr>
          <a:lstStyle/>
          <a:p>
            <a:pPr algn="l"/>
            <a:r>
              <a:rPr sz="1100" b="0" i="0">
                <a:solidFill>
                  <a:srgbClr val="38BDF8"/>
                </a:solidFill>
                <a:latin typeface="Segoe UI"/>
              </a:rPr>
              <a:t>🔵 Maat 1 – N/2  ·  origineel</a:t>
            </a:r>
          </a:p>
        </p:txBody>
      </p:sp>
      <p:sp>
        <p:nvSpPr>
          <p:cNvPr id="8" name="TextBox 7"/>
          <p:cNvSpPr txBox="1"/>
          <p:nvPr/>
        </p:nvSpPr>
        <p:spPr>
          <a:xfrm>
            <a:off x="6172200" y="1801368"/>
            <a:ext cx="5486400" cy="292608"/>
          </a:xfrm>
          <a:prstGeom prst="rect">
            <a:avLst/>
          </a:prstGeom>
          <a:noFill/>
        </p:spPr>
        <p:txBody>
          <a:bodyPr wrap="square">
            <a:spAutoFit/>
          </a:bodyPr>
          <a:lstStyle/>
          <a:p>
            <a:pPr algn="r"/>
            <a:r>
              <a:rPr sz="1100" b="0" i="0">
                <a:solidFill>
                  <a:srgbClr val="F59E0B"/>
                </a:solidFill>
                <a:latin typeface="Segoe UI"/>
              </a:rPr>
              <a:t>🟡 Maat N/2+1 – N  ·  AI gegenereerd</a:t>
            </a:r>
          </a:p>
        </p:txBody>
      </p:sp>
      <p:sp>
        <p:nvSpPr>
          <p:cNvPr id="9" name="Rectangle 8"/>
          <p:cNvSpPr/>
          <p:nvPr/>
        </p:nvSpPr>
        <p:spPr>
          <a:xfrm>
            <a:off x="502920" y="2240280"/>
            <a:ext cx="5394960" cy="182880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50008"/>
            <a:ext cx="5065776" cy="347472"/>
          </a:xfrm>
          <a:prstGeom prst="rect">
            <a:avLst/>
          </a:prstGeom>
          <a:noFill/>
        </p:spPr>
        <p:txBody>
          <a:bodyPr wrap="square">
            <a:spAutoFit/>
          </a:bodyPr>
          <a:lstStyle/>
          <a:p>
            <a:pPr algn="l"/>
            <a:r>
              <a:rPr sz="1400" b="1" i="0">
                <a:solidFill>
                  <a:srgbClr val="38BDF8"/>
                </a:solidFill>
                <a:latin typeface="Segoe UI"/>
              </a:rPr>
              <a:t>FASE 1 — Ritme overnemen</a:t>
            </a:r>
          </a:p>
        </p:txBody>
      </p:sp>
      <p:sp>
        <p:nvSpPr>
          <p:cNvPr id="11" name="TextBox 10"/>
          <p:cNvSpPr txBox="1"/>
          <p:nvPr/>
        </p:nvSpPr>
        <p:spPr>
          <a:xfrm>
            <a:off x="667512" y="2715768"/>
            <a:ext cx="5065776" cy="1243584"/>
          </a:xfrm>
          <a:prstGeom prst="rect">
            <a:avLst/>
          </a:prstGeom>
          <a:noFill/>
        </p:spPr>
        <p:txBody>
          <a:bodyPr wrap="square">
            <a:spAutoFit/>
          </a:bodyPr>
          <a:lstStyle/>
          <a:p>
            <a:pPr algn="l"/>
            <a:r>
              <a:rPr sz="1100" b="0" i="0">
                <a:solidFill>
                  <a:srgbClr val="94A3B8"/>
                </a:solidFill>
                <a:latin typeface="Segoe UI"/>
              </a:rPr>
              <a:t>Het originele ritme van de tweede helft wordt exact gekopieerd. Alleen de pitches worden vervangen door AI-gegenereerde waarden.</a:t>
            </a:r>
          </a:p>
        </p:txBody>
      </p:sp>
      <p:sp>
        <p:nvSpPr>
          <p:cNvPr id="12" name="Rectangle 11"/>
          <p:cNvSpPr/>
          <p:nvPr/>
        </p:nvSpPr>
        <p:spPr>
          <a:xfrm>
            <a:off x="6080760" y="2240280"/>
            <a:ext cx="5577840" cy="182880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45352" y="2350008"/>
            <a:ext cx="5248656" cy="347472"/>
          </a:xfrm>
          <a:prstGeom prst="rect">
            <a:avLst/>
          </a:prstGeom>
          <a:noFill/>
        </p:spPr>
        <p:txBody>
          <a:bodyPr wrap="square">
            <a:spAutoFit/>
          </a:bodyPr>
          <a:lstStyle/>
          <a:p>
            <a:pPr algn="l"/>
            <a:r>
              <a:rPr sz="1400" b="1" i="0">
                <a:solidFill>
                  <a:srgbClr val="F59E0B"/>
                </a:solidFill>
                <a:latin typeface="Segoe UI"/>
              </a:rPr>
              <a:t>FASE 2 — Melodie genereren</a:t>
            </a:r>
          </a:p>
        </p:txBody>
      </p:sp>
      <p:sp>
        <p:nvSpPr>
          <p:cNvPr id="14" name="TextBox 13"/>
          <p:cNvSpPr txBox="1"/>
          <p:nvPr/>
        </p:nvSpPr>
        <p:spPr>
          <a:xfrm>
            <a:off x="6245352" y="2715768"/>
            <a:ext cx="5248656" cy="1243584"/>
          </a:xfrm>
          <a:prstGeom prst="rect">
            <a:avLst/>
          </a:prstGeom>
          <a:noFill/>
        </p:spPr>
        <p:txBody>
          <a:bodyPr wrap="square">
            <a:spAutoFit/>
          </a:bodyPr>
          <a:lstStyle/>
          <a:p>
            <a:pPr algn="l"/>
            <a:r>
              <a:rPr sz="1100" b="0" i="0">
                <a:solidFill>
                  <a:srgbClr val="94A3B8"/>
                </a:solidFill>
                <a:latin typeface="Segoe UI"/>
              </a:rPr>
              <a:t>Per duurslot kiest het model een pitch.
Toonaard-filter (Krumhansl-Schmuckler): alleen noten uit de gedetecteerde toonaard zijn toegestaan.</a:t>
            </a:r>
          </a:p>
        </p:txBody>
      </p:sp>
      <p:sp>
        <p:nvSpPr>
          <p:cNvPr id="15" name="Rectangle 14"/>
          <p:cNvSpPr/>
          <p:nvPr/>
        </p:nvSpPr>
        <p:spPr>
          <a:xfrm>
            <a:off x="502920" y="4343400"/>
            <a:ext cx="11155680" cy="822960"/>
          </a:xfrm>
          <a:prstGeom prst="rect">
            <a:avLst/>
          </a:prstGeom>
          <a:solidFill>
            <a:srgbClr val="0E28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453128"/>
            <a:ext cx="10698480" cy="594360"/>
          </a:xfrm>
          <a:prstGeom prst="rect">
            <a:avLst/>
          </a:prstGeom>
          <a:noFill/>
        </p:spPr>
        <p:txBody>
          <a:bodyPr wrap="square">
            <a:spAutoFit/>
          </a:bodyPr>
          <a:lstStyle/>
          <a:p>
            <a:pPr algn="l"/>
            <a:r>
              <a:rPr sz="1300" b="0" i="1">
                <a:solidFill>
                  <a:srgbClr val="E2E8F0"/>
                </a:solidFill>
                <a:latin typeface="Segoe UI"/>
              </a:rPr>
              <a:t>P(pitch | context, duur)  —  sample uit tokens met de juiste duur, gefilterd op pitchklassen 0–11 van de toonaard.</a:t>
            </a:r>
          </a:p>
        </p:txBody>
      </p:sp>
      <p:sp>
        <p:nvSpPr>
          <p:cNvPr id="17" name="Rectangle 16"/>
          <p:cNvSpPr/>
          <p:nvPr/>
        </p:nvSpPr>
        <p:spPr>
          <a:xfrm>
            <a:off x="502920" y="5349240"/>
            <a:ext cx="5394960" cy="118872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458968"/>
            <a:ext cx="5065776" cy="347472"/>
          </a:xfrm>
          <a:prstGeom prst="rect">
            <a:avLst/>
          </a:prstGeom>
          <a:noFill/>
        </p:spPr>
        <p:txBody>
          <a:bodyPr wrap="square">
            <a:spAutoFit/>
          </a:bodyPr>
          <a:lstStyle/>
          <a:p>
            <a:pPr algn="l"/>
            <a:r>
              <a:rPr sz="1400" b="1" i="0">
                <a:solidFill>
                  <a:srgbClr val="A78BFA"/>
                </a:solidFill>
                <a:latin typeface="Segoe UI"/>
              </a:rPr>
              <a:t>Toonaard detectie</a:t>
            </a:r>
          </a:p>
        </p:txBody>
      </p:sp>
      <p:sp>
        <p:nvSpPr>
          <p:cNvPr id="19" name="TextBox 18"/>
          <p:cNvSpPr txBox="1"/>
          <p:nvPr/>
        </p:nvSpPr>
        <p:spPr>
          <a:xfrm>
            <a:off x="667512" y="5824728"/>
            <a:ext cx="5065776" cy="603504"/>
          </a:xfrm>
          <a:prstGeom prst="rect">
            <a:avLst/>
          </a:prstGeom>
          <a:noFill/>
        </p:spPr>
        <p:txBody>
          <a:bodyPr wrap="square">
            <a:spAutoFit/>
          </a:bodyPr>
          <a:lstStyle/>
          <a:p>
            <a:pPr algn="l"/>
            <a:r>
              <a:rPr sz="1100" b="0" i="0">
                <a:solidFill>
                  <a:srgbClr val="94A3B8"/>
                </a:solidFill>
                <a:latin typeface="Segoe UI"/>
              </a:rPr>
              <a:t>music21 analyseert de eerste helft via Krumhansl-Schmuckler
→ set van toegestane MIDI-pitchklassen (0–11).</a:t>
            </a:r>
          </a:p>
        </p:txBody>
      </p:sp>
      <p:sp>
        <p:nvSpPr>
          <p:cNvPr id="20" name="Rectangle 19"/>
          <p:cNvSpPr/>
          <p:nvPr/>
        </p:nvSpPr>
        <p:spPr>
          <a:xfrm>
            <a:off x="6080760" y="5349240"/>
            <a:ext cx="5577840" cy="118872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45352" y="5458968"/>
            <a:ext cx="5248656" cy="347472"/>
          </a:xfrm>
          <a:prstGeom prst="rect">
            <a:avLst/>
          </a:prstGeom>
          <a:noFill/>
        </p:spPr>
        <p:txBody>
          <a:bodyPr wrap="square">
            <a:spAutoFit/>
          </a:bodyPr>
          <a:lstStyle/>
          <a:p>
            <a:pPr algn="l"/>
            <a:r>
              <a:rPr sz="1400" b="1" i="0">
                <a:solidFill>
                  <a:srgbClr val="10B981"/>
                </a:solidFill>
                <a:latin typeface="Segoe UI"/>
              </a:rPr>
              <a:t>Resultaat</a:t>
            </a:r>
          </a:p>
        </p:txBody>
      </p:sp>
      <p:sp>
        <p:nvSpPr>
          <p:cNvPr id="22" name="TextBox 21"/>
          <p:cNvSpPr txBox="1"/>
          <p:nvPr/>
        </p:nvSpPr>
        <p:spPr>
          <a:xfrm>
            <a:off x="6245352" y="5824728"/>
            <a:ext cx="5248656" cy="603504"/>
          </a:xfrm>
          <a:prstGeom prst="rect">
            <a:avLst/>
          </a:prstGeom>
          <a:noFill/>
        </p:spPr>
        <p:txBody>
          <a:bodyPr wrap="square">
            <a:spAutoFit/>
          </a:bodyPr>
          <a:lstStyle/>
          <a:p>
            <a:pPr algn="l"/>
            <a:r>
              <a:rPr sz="1100" b="0" i="0">
                <a:solidFill>
                  <a:srgbClr val="94A3B8"/>
                </a:solidFill>
                <a:latin typeface="Segoe UI"/>
              </a:rPr>
              <a:t>Originele ritme bewaard · AI-melodie in de juiste toonaard · elke stem als aparte MIDI-Part.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Modus B — Bach-stijl</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Eerste 4 maten als seed · model genereert ritme én melodie volledig vrij</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1673352"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76272" y="1417320"/>
            <a:ext cx="9482328"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01368"/>
            <a:ext cx="2743200" cy="292608"/>
          </a:xfrm>
          <a:prstGeom prst="rect">
            <a:avLst/>
          </a:prstGeom>
          <a:noFill/>
        </p:spPr>
        <p:txBody>
          <a:bodyPr wrap="square">
            <a:spAutoFit/>
          </a:bodyPr>
          <a:lstStyle/>
          <a:p>
            <a:pPr algn="l"/>
            <a:r>
              <a:rPr sz="1100" b="0" i="0">
                <a:solidFill>
                  <a:srgbClr val="38BDF8"/>
                </a:solidFill>
                <a:latin typeface="Segoe UI"/>
              </a:rPr>
              <a:t>🔵  4 maten seed</a:t>
            </a:r>
          </a:p>
        </p:txBody>
      </p:sp>
      <p:sp>
        <p:nvSpPr>
          <p:cNvPr id="8" name="TextBox 7"/>
          <p:cNvSpPr txBox="1"/>
          <p:nvPr/>
        </p:nvSpPr>
        <p:spPr>
          <a:xfrm>
            <a:off x="3383280" y="1801368"/>
            <a:ext cx="8229600" cy="292608"/>
          </a:xfrm>
          <a:prstGeom prst="rect">
            <a:avLst/>
          </a:prstGeom>
          <a:noFill/>
        </p:spPr>
        <p:txBody>
          <a:bodyPr wrap="square">
            <a:spAutoFit/>
          </a:bodyPr>
          <a:lstStyle/>
          <a:p>
            <a:pPr algn="l"/>
            <a:r>
              <a:rPr sz="1100" b="0" i="0">
                <a:solidFill>
                  <a:srgbClr val="F59E0B"/>
                </a:solidFill>
                <a:latin typeface="Segoe UI"/>
              </a:rPr>
              <a:t>🟡  rest volledig AI gegenereerd</a:t>
            </a:r>
          </a:p>
        </p:txBody>
      </p:sp>
      <p:sp>
        <p:nvSpPr>
          <p:cNvPr id="9" name="Rectangle 8"/>
          <p:cNvSpPr/>
          <p:nvPr/>
        </p:nvSpPr>
        <p:spPr>
          <a:xfrm>
            <a:off x="502920" y="2240280"/>
            <a:ext cx="5394960" cy="2377440"/>
          </a:xfrm>
          <a:prstGeom prst="rect">
            <a:avLst/>
          </a:prstGeom>
          <a:solidFill>
            <a:srgbClr val="02061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31720"/>
            <a:ext cx="5029200" cy="365760"/>
          </a:xfrm>
          <a:prstGeom prst="rect">
            <a:avLst/>
          </a:prstGeom>
          <a:noFill/>
        </p:spPr>
        <p:txBody>
          <a:bodyPr wrap="square">
            <a:spAutoFit/>
          </a:bodyPr>
          <a:lstStyle/>
          <a:p>
            <a:pPr algn="l"/>
            <a:r>
              <a:rPr sz="1300" b="1" i="0">
                <a:solidFill>
                  <a:srgbClr val="38BDF8"/>
                </a:solidFill>
                <a:latin typeface="Segoe UI"/>
              </a:rPr>
              <a:t>FASE 1 — Ritme genereren</a:t>
            </a:r>
          </a:p>
        </p:txBody>
      </p:sp>
      <p:sp>
        <p:nvSpPr>
          <p:cNvPr id="11" name="TextBox 10"/>
          <p:cNvSpPr txBox="1"/>
          <p:nvPr/>
        </p:nvSpPr>
        <p:spPr>
          <a:xfrm>
            <a:off x="685800" y="2724912"/>
            <a:ext cx="5029200" cy="1737360"/>
          </a:xfrm>
          <a:prstGeom prst="rect">
            <a:avLst/>
          </a:prstGeom>
          <a:noFill/>
        </p:spPr>
        <p:txBody>
          <a:bodyPr wrap="square">
            <a:spAutoFit/>
          </a:bodyPr>
          <a:lstStyle/>
          <a:p>
            <a:pPr algn="l"/>
            <a:r>
              <a:rPr sz="1100" b="0" i="0">
                <a:solidFill>
                  <a:srgbClr val="A8B4C8"/>
                </a:solidFill>
                <a:latin typeface="Segoe UI"/>
              </a:rPr>
              <a:t># Marginaliseer over pitches:
P(duur | context) =
    Σ_pitch P(pitch, duur | context)
# → duur-gewichten via softmax
# → sample één duur via multinomial</a:t>
            </a:r>
          </a:p>
        </p:txBody>
      </p:sp>
      <p:sp>
        <p:nvSpPr>
          <p:cNvPr id="12" name="Rectangle 11"/>
          <p:cNvSpPr/>
          <p:nvPr/>
        </p:nvSpPr>
        <p:spPr>
          <a:xfrm>
            <a:off x="6080760" y="2240280"/>
            <a:ext cx="5577840" cy="23774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45352" y="2350008"/>
            <a:ext cx="5248656" cy="347472"/>
          </a:xfrm>
          <a:prstGeom prst="rect">
            <a:avLst/>
          </a:prstGeom>
          <a:noFill/>
        </p:spPr>
        <p:txBody>
          <a:bodyPr wrap="square">
            <a:spAutoFit/>
          </a:bodyPr>
          <a:lstStyle/>
          <a:p>
            <a:pPr algn="l"/>
            <a:r>
              <a:rPr sz="1400" b="1" i="0">
                <a:solidFill>
                  <a:srgbClr val="F59E0B"/>
                </a:solidFill>
                <a:latin typeface="Segoe UI"/>
              </a:rPr>
              <a:t>FASE 2 — Melodie genereren</a:t>
            </a:r>
          </a:p>
        </p:txBody>
      </p:sp>
      <p:sp>
        <p:nvSpPr>
          <p:cNvPr id="14" name="TextBox 13"/>
          <p:cNvSpPr txBox="1"/>
          <p:nvPr/>
        </p:nvSpPr>
        <p:spPr>
          <a:xfrm>
            <a:off x="6245352" y="2715768"/>
            <a:ext cx="5248656" cy="1792224"/>
          </a:xfrm>
          <a:prstGeom prst="rect">
            <a:avLst/>
          </a:prstGeom>
          <a:noFill/>
        </p:spPr>
        <p:txBody>
          <a:bodyPr wrap="square">
            <a:spAutoFit/>
          </a:bodyPr>
          <a:lstStyle/>
          <a:p>
            <a:pPr algn="l"/>
            <a:r>
              <a:rPr sz="1100" b="0" i="0">
                <a:solidFill>
                  <a:srgbClr val="94A3B8"/>
                </a:solidFill>
                <a:latin typeface="Segoe UI"/>
              </a:rPr>
              <a:t>Geen toonaard-filter.
Het model bepaalt zelf de toonaard op basis van de geleerde Bach-stijl. Meer creatieve vrijheid dan modus A.</a:t>
            </a:r>
          </a:p>
        </p:txBody>
      </p:sp>
      <p:sp>
        <p:nvSpPr>
          <p:cNvPr id="15" name="Rectangle 14"/>
          <p:cNvSpPr/>
          <p:nvPr/>
        </p:nvSpPr>
        <p:spPr>
          <a:xfrm>
            <a:off x="502920" y="4846320"/>
            <a:ext cx="5394960" cy="16916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4956048"/>
            <a:ext cx="5065776" cy="347472"/>
          </a:xfrm>
          <a:prstGeom prst="rect">
            <a:avLst/>
          </a:prstGeom>
          <a:noFill/>
        </p:spPr>
        <p:txBody>
          <a:bodyPr wrap="square">
            <a:spAutoFit/>
          </a:bodyPr>
          <a:lstStyle/>
          <a:p>
            <a:pPr algn="l"/>
            <a:r>
              <a:rPr sz="1400" b="1" i="0">
                <a:solidFill>
                  <a:srgbClr val="A78BFA"/>
                </a:solidFill>
                <a:latin typeface="Segoe UI"/>
              </a:rPr>
              <a:t>Verschil met modus A</a:t>
            </a:r>
          </a:p>
        </p:txBody>
      </p:sp>
      <p:sp>
        <p:nvSpPr>
          <p:cNvPr id="17" name="TextBox 16"/>
          <p:cNvSpPr txBox="1"/>
          <p:nvPr/>
        </p:nvSpPr>
        <p:spPr>
          <a:xfrm>
            <a:off x="667512" y="5321808"/>
            <a:ext cx="5065776" cy="1106424"/>
          </a:xfrm>
          <a:prstGeom prst="rect">
            <a:avLst/>
          </a:prstGeom>
          <a:noFill/>
        </p:spPr>
        <p:txBody>
          <a:bodyPr wrap="square">
            <a:spAutoFit/>
          </a:bodyPr>
          <a:lstStyle/>
          <a:p>
            <a:pPr algn="l"/>
            <a:r>
              <a:rPr sz="1100" b="0" i="0">
                <a:solidFill>
                  <a:srgbClr val="94A3B8"/>
                </a:solidFill>
                <a:latin typeface="Segoe UI"/>
              </a:rPr>
              <a:t>• Ritme: model genereert vrij  (A: origineel overnemen)
• Toonaard: geen filter  (A: Krumhansl-Schmuckler)
• Seed: 4 maten  (A: helft van het werk)</a:t>
            </a:r>
          </a:p>
        </p:txBody>
      </p:sp>
      <p:sp>
        <p:nvSpPr>
          <p:cNvPr id="18" name="Rectangle 17"/>
          <p:cNvSpPr/>
          <p:nvPr/>
        </p:nvSpPr>
        <p:spPr>
          <a:xfrm>
            <a:off x="6080760" y="4846320"/>
            <a:ext cx="5577840" cy="169164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5352" y="4956048"/>
            <a:ext cx="5248656" cy="347472"/>
          </a:xfrm>
          <a:prstGeom prst="rect">
            <a:avLst/>
          </a:prstGeom>
          <a:noFill/>
        </p:spPr>
        <p:txBody>
          <a:bodyPr wrap="square">
            <a:spAutoFit/>
          </a:bodyPr>
          <a:lstStyle/>
          <a:p>
            <a:pPr algn="l"/>
            <a:r>
              <a:rPr sz="1400" b="1" i="0">
                <a:solidFill>
                  <a:srgbClr val="475569"/>
                </a:solidFill>
                <a:latin typeface="Segoe UI"/>
              </a:rPr>
              <a:t>Veiligheidsnet</a:t>
            </a:r>
          </a:p>
        </p:txBody>
      </p:sp>
      <p:sp>
        <p:nvSpPr>
          <p:cNvPr id="20" name="TextBox 19"/>
          <p:cNvSpPr txBox="1"/>
          <p:nvPr/>
        </p:nvSpPr>
        <p:spPr>
          <a:xfrm>
            <a:off x="6245352" y="5321808"/>
            <a:ext cx="5248656" cy="1106424"/>
          </a:xfrm>
          <a:prstGeom prst="rect">
            <a:avLst/>
          </a:prstGeom>
          <a:noFill/>
        </p:spPr>
        <p:txBody>
          <a:bodyPr wrap="square">
            <a:spAutoFit/>
          </a:bodyPr>
          <a:lstStyle/>
          <a:p>
            <a:pPr algn="l"/>
            <a:r>
              <a:rPr sz="1100" b="0" i="0">
                <a:solidFill>
                  <a:srgbClr val="94A3B8"/>
                </a:solidFill>
                <a:latin typeface="Segoe UI"/>
              </a:rPr>
              <a:t>Onvoldoende seed-data → origineel ritme als fallback.
Max stappen = max(500, doelduur/0.25 × 10) als stop-criterium.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Sampling-parameters</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Temperatuur en top-k bepalen de creatieve vrijheid van het model</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5394960" cy="2743200"/>
          </a:xfrm>
          <a:prstGeom prst="rect">
            <a:avLst/>
          </a:prstGeom>
          <a:solidFill>
            <a:srgbClr val="02061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08760"/>
            <a:ext cx="5029200" cy="384048"/>
          </a:xfrm>
          <a:prstGeom prst="rect">
            <a:avLst/>
          </a:prstGeom>
          <a:noFill/>
        </p:spPr>
        <p:txBody>
          <a:bodyPr wrap="square">
            <a:spAutoFit/>
          </a:bodyPr>
          <a:lstStyle/>
          <a:p>
            <a:pPr algn="l"/>
            <a:r>
              <a:rPr sz="1400" b="1" i="0">
                <a:solidFill>
                  <a:srgbClr val="38BDF8"/>
                </a:solidFill>
                <a:latin typeface="Segoe UI"/>
              </a:rPr>
              <a:t>🌡️  Temperatuur</a:t>
            </a:r>
          </a:p>
        </p:txBody>
      </p:sp>
      <p:sp>
        <p:nvSpPr>
          <p:cNvPr id="7" name="TextBox 6"/>
          <p:cNvSpPr txBox="1"/>
          <p:nvPr/>
        </p:nvSpPr>
        <p:spPr>
          <a:xfrm>
            <a:off x="685800" y="1920240"/>
            <a:ext cx="5029200" cy="2103120"/>
          </a:xfrm>
          <a:prstGeom prst="rect">
            <a:avLst/>
          </a:prstGeom>
          <a:noFill/>
        </p:spPr>
        <p:txBody>
          <a:bodyPr wrap="square">
            <a:spAutoFit/>
          </a:bodyPr>
          <a:lstStyle/>
          <a:p>
            <a:pPr algn="l"/>
            <a:r>
              <a:rPr sz="1200" b="0" i="0">
                <a:solidFill>
                  <a:srgbClr val="A8B4C8"/>
                </a:solidFill>
                <a:latin typeface="Segoe UI"/>
              </a:rPr>
              <a:t>probs = softmax(logits / T)
T = 0.3  →  scherpe verdeling
          Bach-achtig, voorspelbaar
T = 1.5  →  vlakke verdeling
          creatief, willekeurig</a:t>
            </a:r>
          </a:p>
        </p:txBody>
      </p:sp>
      <p:sp>
        <p:nvSpPr>
          <p:cNvPr id="8" name="Rectangle 7"/>
          <p:cNvSpPr/>
          <p:nvPr/>
        </p:nvSpPr>
        <p:spPr>
          <a:xfrm>
            <a:off x="6080760" y="1417320"/>
            <a:ext cx="5577840" cy="2743200"/>
          </a:xfrm>
          <a:prstGeom prst="rect">
            <a:avLst/>
          </a:prstGeom>
          <a:solidFill>
            <a:srgbClr val="020617"/>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508760"/>
            <a:ext cx="5212080" cy="384048"/>
          </a:xfrm>
          <a:prstGeom prst="rect">
            <a:avLst/>
          </a:prstGeom>
          <a:noFill/>
        </p:spPr>
        <p:txBody>
          <a:bodyPr wrap="square">
            <a:spAutoFit/>
          </a:bodyPr>
          <a:lstStyle/>
          <a:p>
            <a:pPr algn="l"/>
            <a:r>
              <a:rPr sz="1400" b="1" i="0">
                <a:solidFill>
                  <a:srgbClr val="A78BFA"/>
                </a:solidFill>
                <a:latin typeface="Segoe UI"/>
              </a:rPr>
              <a:t>🎯  Top-k filtering</a:t>
            </a:r>
          </a:p>
        </p:txBody>
      </p:sp>
      <p:sp>
        <p:nvSpPr>
          <p:cNvPr id="10" name="TextBox 9"/>
          <p:cNvSpPr txBox="1"/>
          <p:nvPr/>
        </p:nvSpPr>
        <p:spPr>
          <a:xfrm>
            <a:off x="6263640" y="1920240"/>
            <a:ext cx="5212080" cy="2103120"/>
          </a:xfrm>
          <a:prstGeom prst="rect">
            <a:avLst/>
          </a:prstGeom>
          <a:noFill/>
        </p:spPr>
        <p:txBody>
          <a:bodyPr wrap="square">
            <a:spAutoFit/>
          </a:bodyPr>
          <a:lstStyle/>
          <a:p>
            <a:pPr algn="l"/>
            <a:r>
              <a:rPr sz="1200" b="0" i="0">
                <a:solidFill>
                  <a:srgbClr val="A8B4C8"/>
                </a:solidFill>
                <a:latin typeface="Segoe UI"/>
              </a:rPr>
              <a:t># Maskeer alles buiten de top-k
grens = topk(logits, k).values[-1]
logits[logits &lt; grens] = -inf
# → softmax over k kandidaten
k = 0   →  alle tokens
k = 10  →  alleen 10 beste</a:t>
            </a:r>
          </a:p>
        </p:txBody>
      </p:sp>
      <p:sp>
        <p:nvSpPr>
          <p:cNvPr id="11" name="Rectangle 10"/>
          <p:cNvSpPr/>
          <p:nvPr/>
        </p:nvSpPr>
        <p:spPr>
          <a:xfrm>
            <a:off x="502920" y="4389120"/>
            <a:ext cx="2697480" cy="155448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4498848"/>
            <a:ext cx="2368296" cy="347472"/>
          </a:xfrm>
          <a:prstGeom prst="rect">
            <a:avLst/>
          </a:prstGeom>
          <a:noFill/>
        </p:spPr>
        <p:txBody>
          <a:bodyPr wrap="square">
            <a:spAutoFit/>
          </a:bodyPr>
          <a:lstStyle/>
          <a:p>
            <a:pPr algn="l"/>
            <a:r>
              <a:rPr sz="1400" b="1" i="0">
                <a:solidFill>
                  <a:srgbClr val="38BDF8"/>
                </a:solidFill>
                <a:latin typeface="Segoe UI"/>
              </a:rPr>
              <a:t>Lage T + lage k</a:t>
            </a:r>
          </a:p>
        </p:txBody>
      </p:sp>
      <p:sp>
        <p:nvSpPr>
          <p:cNvPr id="13" name="TextBox 12"/>
          <p:cNvSpPr txBox="1"/>
          <p:nvPr/>
        </p:nvSpPr>
        <p:spPr>
          <a:xfrm>
            <a:off x="667512" y="4864608"/>
            <a:ext cx="2368296" cy="969264"/>
          </a:xfrm>
          <a:prstGeom prst="rect">
            <a:avLst/>
          </a:prstGeom>
          <a:noFill/>
        </p:spPr>
        <p:txBody>
          <a:bodyPr wrap="square">
            <a:spAutoFit/>
          </a:bodyPr>
          <a:lstStyle/>
          <a:p>
            <a:pPr algn="l"/>
            <a:r>
              <a:rPr sz="1100" b="0" i="0">
                <a:solidFill>
                  <a:srgbClr val="94A3B8"/>
                </a:solidFill>
                <a:latin typeface="Segoe UI"/>
              </a:rPr>
              <a:t>Meest voorspelbaar, Bach-achtig</a:t>
            </a:r>
          </a:p>
        </p:txBody>
      </p:sp>
      <p:sp>
        <p:nvSpPr>
          <p:cNvPr id="14" name="Rectangle 13"/>
          <p:cNvSpPr/>
          <p:nvPr/>
        </p:nvSpPr>
        <p:spPr>
          <a:xfrm>
            <a:off x="3364992" y="4389120"/>
            <a:ext cx="2697480" cy="155448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9584" y="4498848"/>
            <a:ext cx="2368296" cy="347472"/>
          </a:xfrm>
          <a:prstGeom prst="rect">
            <a:avLst/>
          </a:prstGeom>
          <a:noFill/>
        </p:spPr>
        <p:txBody>
          <a:bodyPr wrap="square">
            <a:spAutoFit/>
          </a:bodyPr>
          <a:lstStyle/>
          <a:p>
            <a:pPr algn="l"/>
            <a:r>
              <a:rPr sz="1400" b="1" i="0">
                <a:solidFill>
                  <a:srgbClr val="A78BFA"/>
                </a:solidFill>
                <a:latin typeface="Segoe UI"/>
              </a:rPr>
              <a:t>Lage T + hoge k</a:t>
            </a:r>
          </a:p>
        </p:txBody>
      </p:sp>
      <p:sp>
        <p:nvSpPr>
          <p:cNvPr id="16" name="TextBox 15"/>
          <p:cNvSpPr txBox="1"/>
          <p:nvPr/>
        </p:nvSpPr>
        <p:spPr>
          <a:xfrm>
            <a:off x="3529584" y="4864608"/>
            <a:ext cx="2368296" cy="969264"/>
          </a:xfrm>
          <a:prstGeom prst="rect">
            <a:avLst/>
          </a:prstGeom>
          <a:noFill/>
        </p:spPr>
        <p:txBody>
          <a:bodyPr wrap="square">
            <a:spAutoFit/>
          </a:bodyPr>
          <a:lstStyle/>
          <a:p>
            <a:pPr algn="l"/>
            <a:r>
              <a:rPr sz="1100" b="0" i="0">
                <a:solidFill>
                  <a:srgbClr val="94A3B8"/>
                </a:solidFill>
                <a:latin typeface="Segoe UI"/>
              </a:rPr>
              <a:t>Melodieus maar gevarieerd</a:t>
            </a:r>
          </a:p>
        </p:txBody>
      </p:sp>
      <p:sp>
        <p:nvSpPr>
          <p:cNvPr id="17" name="Rectangle 16"/>
          <p:cNvSpPr/>
          <p:nvPr/>
        </p:nvSpPr>
        <p:spPr>
          <a:xfrm>
            <a:off x="6227064" y="4389120"/>
            <a:ext cx="2697480" cy="155448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1656" y="4498848"/>
            <a:ext cx="2368296" cy="347472"/>
          </a:xfrm>
          <a:prstGeom prst="rect">
            <a:avLst/>
          </a:prstGeom>
          <a:noFill/>
        </p:spPr>
        <p:txBody>
          <a:bodyPr wrap="square">
            <a:spAutoFit/>
          </a:bodyPr>
          <a:lstStyle/>
          <a:p>
            <a:pPr algn="l"/>
            <a:r>
              <a:rPr sz="1400" b="1" i="0">
                <a:solidFill>
                  <a:srgbClr val="F59E0B"/>
                </a:solidFill>
                <a:latin typeface="Segoe UI"/>
              </a:rPr>
              <a:t>Hoge T + lage k</a:t>
            </a:r>
          </a:p>
        </p:txBody>
      </p:sp>
      <p:sp>
        <p:nvSpPr>
          <p:cNvPr id="19" name="TextBox 18"/>
          <p:cNvSpPr txBox="1"/>
          <p:nvPr/>
        </p:nvSpPr>
        <p:spPr>
          <a:xfrm>
            <a:off x="6391656" y="4864608"/>
            <a:ext cx="2368296" cy="969264"/>
          </a:xfrm>
          <a:prstGeom prst="rect">
            <a:avLst/>
          </a:prstGeom>
          <a:noFill/>
        </p:spPr>
        <p:txBody>
          <a:bodyPr wrap="square">
            <a:spAutoFit/>
          </a:bodyPr>
          <a:lstStyle/>
          <a:p>
            <a:pPr algn="l"/>
            <a:r>
              <a:rPr sz="1100" b="0" i="0">
                <a:solidFill>
                  <a:srgbClr val="94A3B8"/>
                </a:solidFill>
                <a:latin typeface="Segoe UI"/>
              </a:rPr>
              <a:t>Ritmisch spannend, stabiele toonaard</a:t>
            </a:r>
          </a:p>
        </p:txBody>
      </p:sp>
      <p:sp>
        <p:nvSpPr>
          <p:cNvPr id="20" name="Rectangle 19"/>
          <p:cNvSpPr/>
          <p:nvPr/>
        </p:nvSpPr>
        <p:spPr>
          <a:xfrm>
            <a:off x="9089136" y="4389120"/>
            <a:ext cx="2697480" cy="155448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3728" y="4498848"/>
            <a:ext cx="2368296" cy="347472"/>
          </a:xfrm>
          <a:prstGeom prst="rect">
            <a:avLst/>
          </a:prstGeom>
          <a:noFill/>
        </p:spPr>
        <p:txBody>
          <a:bodyPr wrap="square">
            <a:spAutoFit/>
          </a:bodyPr>
          <a:lstStyle/>
          <a:p>
            <a:pPr algn="l"/>
            <a:r>
              <a:rPr sz="1400" b="1" i="0">
                <a:solidFill>
                  <a:srgbClr val="10B981"/>
                </a:solidFill>
                <a:latin typeface="Segoe UI"/>
              </a:rPr>
              <a:t>Hoge T + hoge k</a:t>
            </a:r>
          </a:p>
        </p:txBody>
      </p:sp>
      <p:sp>
        <p:nvSpPr>
          <p:cNvPr id="22" name="TextBox 21"/>
          <p:cNvSpPr txBox="1"/>
          <p:nvPr/>
        </p:nvSpPr>
        <p:spPr>
          <a:xfrm>
            <a:off x="9253728" y="4864608"/>
            <a:ext cx="2368296" cy="969264"/>
          </a:xfrm>
          <a:prstGeom prst="rect">
            <a:avLst/>
          </a:prstGeom>
          <a:noFill/>
        </p:spPr>
        <p:txBody>
          <a:bodyPr wrap="square">
            <a:spAutoFit/>
          </a:bodyPr>
          <a:lstStyle/>
          <a:p>
            <a:pPr algn="l"/>
            <a:r>
              <a:rPr sz="1100" b="0" i="0">
                <a:solidFill>
                  <a:srgbClr val="94A3B8"/>
                </a:solidFill>
                <a:latin typeface="Segoe UI"/>
              </a:rPr>
              <a:t>Maximale creativiteit / willekeur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Van tokens naar geluid</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De gegenereerde tokens worden omgezet naar een afspeelbaar MIDI-bestand</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554480"/>
            <a:ext cx="2651760" cy="274320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91640"/>
            <a:ext cx="2651760" cy="640080"/>
          </a:xfrm>
          <a:prstGeom prst="rect">
            <a:avLst/>
          </a:prstGeom>
          <a:noFill/>
        </p:spPr>
        <p:txBody>
          <a:bodyPr wrap="square">
            <a:spAutoFit/>
          </a:bodyPr>
          <a:lstStyle/>
          <a:p>
            <a:pPr algn="ctr"/>
            <a:r>
              <a:rPr sz="2800" b="0" i="0">
                <a:solidFill>
                  <a:srgbClr val="E2E8F0"/>
                </a:solidFill>
                <a:latin typeface="Segoe UI"/>
              </a:rPr>
              <a:t>🔨</a:t>
            </a:r>
          </a:p>
        </p:txBody>
      </p:sp>
      <p:sp>
        <p:nvSpPr>
          <p:cNvPr id="7" name="TextBox 6"/>
          <p:cNvSpPr txBox="1"/>
          <p:nvPr/>
        </p:nvSpPr>
        <p:spPr>
          <a:xfrm>
            <a:off x="612648" y="2286000"/>
            <a:ext cx="2432304" cy="411480"/>
          </a:xfrm>
          <a:prstGeom prst="rect">
            <a:avLst/>
          </a:prstGeom>
          <a:noFill/>
        </p:spPr>
        <p:txBody>
          <a:bodyPr wrap="square">
            <a:spAutoFit/>
          </a:bodyPr>
          <a:lstStyle/>
          <a:p>
            <a:pPr algn="l"/>
            <a:r>
              <a:rPr sz="1300" b="1" i="0">
                <a:solidFill>
                  <a:srgbClr val="38BDF8"/>
                </a:solidFill>
                <a:latin typeface="Segoe UI"/>
              </a:rPr>
              <a:t>music21 bouwen</a:t>
            </a:r>
          </a:p>
        </p:txBody>
      </p:sp>
      <p:sp>
        <p:nvSpPr>
          <p:cNvPr id="8" name="TextBox 7"/>
          <p:cNvSpPr txBox="1"/>
          <p:nvPr/>
        </p:nvSpPr>
        <p:spPr>
          <a:xfrm>
            <a:off x="612648" y="2743200"/>
            <a:ext cx="2432304" cy="1371600"/>
          </a:xfrm>
          <a:prstGeom prst="rect">
            <a:avLst/>
          </a:prstGeom>
          <a:noFill/>
        </p:spPr>
        <p:txBody>
          <a:bodyPr wrap="square">
            <a:spAutoFit/>
          </a:bodyPr>
          <a:lstStyle/>
          <a:p>
            <a:pPr algn="l"/>
            <a:r>
              <a:rPr sz="1100" b="0" i="0">
                <a:solidFill>
                  <a:srgbClr val="94A3B8"/>
                </a:solidFill>
                <a:latin typeface="Segoe UI"/>
              </a:rPr>
              <a:t>Elke AI-stem als aparte Part
ingevoegd, startend op de
splitsmaat.</a:t>
            </a:r>
          </a:p>
        </p:txBody>
      </p:sp>
      <p:sp>
        <p:nvSpPr>
          <p:cNvPr id="9" name="TextBox 8"/>
          <p:cNvSpPr txBox="1"/>
          <p:nvPr/>
        </p:nvSpPr>
        <p:spPr>
          <a:xfrm>
            <a:off x="3172968" y="2560320"/>
            <a:ext cx="146304" cy="457200"/>
          </a:xfrm>
          <a:prstGeom prst="rect">
            <a:avLst/>
          </a:prstGeom>
          <a:noFill/>
        </p:spPr>
        <p:txBody>
          <a:bodyPr wrap="square">
            <a:spAutoFit/>
          </a:bodyPr>
          <a:lstStyle/>
          <a:p>
            <a:pPr algn="ctr"/>
            <a:r>
              <a:rPr sz="1800" b="0" i="0">
                <a:solidFill>
                  <a:srgbClr val="475569"/>
                </a:solidFill>
                <a:latin typeface="Segoe UI"/>
              </a:rPr>
              <a:t>→</a:t>
            </a:r>
          </a:p>
        </p:txBody>
      </p:sp>
      <p:sp>
        <p:nvSpPr>
          <p:cNvPr id="10" name="Rectangle 9"/>
          <p:cNvSpPr/>
          <p:nvPr/>
        </p:nvSpPr>
        <p:spPr>
          <a:xfrm>
            <a:off x="3319272" y="1554480"/>
            <a:ext cx="2651760" cy="2743200"/>
          </a:xfrm>
          <a:prstGeom prst="rect">
            <a:avLst/>
          </a:prstGeom>
          <a:solidFill>
            <a:srgbClr val="1E293B"/>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9272" y="1691640"/>
            <a:ext cx="2651760" cy="640080"/>
          </a:xfrm>
          <a:prstGeom prst="rect">
            <a:avLst/>
          </a:prstGeom>
          <a:noFill/>
        </p:spPr>
        <p:txBody>
          <a:bodyPr wrap="square">
            <a:spAutoFit/>
          </a:bodyPr>
          <a:lstStyle/>
          <a:p>
            <a:pPr algn="ctr"/>
            <a:r>
              <a:rPr sz="2800" b="0" i="0">
                <a:solidFill>
                  <a:srgbClr val="E2E8F0"/>
                </a:solidFill>
                <a:latin typeface="Segoe UI"/>
              </a:rPr>
              <a:t>💾</a:t>
            </a:r>
          </a:p>
        </p:txBody>
      </p:sp>
      <p:sp>
        <p:nvSpPr>
          <p:cNvPr id="12" name="TextBox 11"/>
          <p:cNvSpPr txBox="1"/>
          <p:nvPr/>
        </p:nvSpPr>
        <p:spPr>
          <a:xfrm>
            <a:off x="3429000" y="2286000"/>
            <a:ext cx="2432304" cy="411480"/>
          </a:xfrm>
          <a:prstGeom prst="rect">
            <a:avLst/>
          </a:prstGeom>
          <a:noFill/>
        </p:spPr>
        <p:txBody>
          <a:bodyPr wrap="square">
            <a:spAutoFit/>
          </a:bodyPr>
          <a:lstStyle/>
          <a:p>
            <a:pPr algn="l"/>
            <a:r>
              <a:rPr sz="1300" b="1" i="0">
                <a:solidFill>
                  <a:srgbClr val="A78BFA"/>
                </a:solidFill>
                <a:latin typeface="Segoe UI"/>
              </a:rPr>
              <a:t>In RAM schrijven</a:t>
            </a:r>
          </a:p>
        </p:txBody>
      </p:sp>
      <p:sp>
        <p:nvSpPr>
          <p:cNvPr id="13" name="TextBox 12"/>
          <p:cNvSpPr txBox="1"/>
          <p:nvPr/>
        </p:nvSpPr>
        <p:spPr>
          <a:xfrm>
            <a:off x="3429000" y="2743200"/>
            <a:ext cx="2432304" cy="1371600"/>
          </a:xfrm>
          <a:prstGeom prst="rect">
            <a:avLst/>
          </a:prstGeom>
          <a:noFill/>
        </p:spPr>
        <p:txBody>
          <a:bodyPr wrap="square">
            <a:spAutoFit/>
          </a:bodyPr>
          <a:lstStyle/>
          <a:p>
            <a:pPr algn="l"/>
            <a:r>
              <a:rPr sz="1100" b="0" i="0">
                <a:solidFill>
                  <a:srgbClr val="94A3B8"/>
                </a:solidFill>
                <a:latin typeface="Segoe UI"/>
              </a:rPr>
              <a:t>mf.writestr() schrijft MIDI naar
bytes in geheugen.
Geen schijfbestand.</a:t>
            </a:r>
          </a:p>
        </p:txBody>
      </p:sp>
      <p:sp>
        <p:nvSpPr>
          <p:cNvPr id="14" name="TextBox 13"/>
          <p:cNvSpPr txBox="1"/>
          <p:nvPr/>
        </p:nvSpPr>
        <p:spPr>
          <a:xfrm>
            <a:off x="5989320" y="2560320"/>
            <a:ext cx="146304" cy="457200"/>
          </a:xfrm>
          <a:prstGeom prst="rect">
            <a:avLst/>
          </a:prstGeom>
          <a:noFill/>
        </p:spPr>
        <p:txBody>
          <a:bodyPr wrap="square">
            <a:spAutoFit/>
          </a:bodyPr>
          <a:lstStyle/>
          <a:p>
            <a:pPr algn="ctr"/>
            <a:r>
              <a:rPr sz="1800" b="0" i="0">
                <a:solidFill>
                  <a:srgbClr val="475569"/>
                </a:solidFill>
                <a:latin typeface="Segoe UI"/>
              </a:rPr>
              <a:t>→</a:t>
            </a:r>
          </a:p>
        </p:txBody>
      </p:sp>
      <p:sp>
        <p:nvSpPr>
          <p:cNvPr id="15" name="Rectangle 14"/>
          <p:cNvSpPr/>
          <p:nvPr/>
        </p:nvSpPr>
        <p:spPr>
          <a:xfrm>
            <a:off x="6135624" y="1554480"/>
            <a:ext cx="2651760" cy="2743200"/>
          </a:xfrm>
          <a:prstGeom prst="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1691640"/>
            <a:ext cx="2651760" cy="640080"/>
          </a:xfrm>
          <a:prstGeom prst="rect">
            <a:avLst/>
          </a:prstGeom>
          <a:noFill/>
        </p:spPr>
        <p:txBody>
          <a:bodyPr wrap="square">
            <a:spAutoFit/>
          </a:bodyPr>
          <a:lstStyle/>
          <a:p>
            <a:pPr algn="ctr"/>
            <a:r>
              <a:rPr sz="2800" b="0" i="0">
                <a:solidFill>
                  <a:srgbClr val="E2E8F0"/>
                </a:solidFill>
                <a:latin typeface="Segoe UI"/>
              </a:rPr>
              <a:t>🌐</a:t>
            </a:r>
          </a:p>
        </p:txBody>
      </p:sp>
      <p:sp>
        <p:nvSpPr>
          <p:cNvPr id="17" name="TextBox 16"/>
          <p:cNvSpPr txBox="1"/>
          <p:nvPr/>
        </p:nvSpPr>
        <p:spPr>
          <a:xfrm>
            <a:off x="6245352" y="2286000"/>
            <a:ext cx="2432304" cy="411480"/>
          </a:xfrm>
          <a:prstGeom prst="rect">
            <a:avLst/>
          </a:prstGeom>
          <a:noFill/>
        </p:spPr>
        <p:txBody>
          <a:bodyPr wrap="square">
            <a:spAutoFit/>
          </a:bodyPr>
          <a:lstStyle/>
          <a:p>
            <a:pPr algn="l"/>
            <a:r>
              <a:rPr sz="1300" b="1" i="0">
                <a:solidFill>
                  <a:srgbClr val="F59E0B"/>
                </a:solidFill>
                <a:latin typeface="Segoe UI"/>
              </a:rPr>
              <a:t>data-URI in HTML</a:t>
            </a:r>
          </a:p>
        </p:txBody>
      </p:sp>
      <p:sp>
        <p:nvSpPr>
          <p:cNvPr id="18" name="TextBox 17"/>
          <p:cNvSpPr txBox="1"/>
          <p:nvPr/>
        </p:nvSpPr>
        <p:spPr>
          <a:xfrm>
            <a:off x="6245352" y="2743200"/>
            <a:ext cx="2432304" cy="1371600"/>
          </a:xfrm>
          <a:prstGeom prst="rect">
            <a:avLst/>
          </a:prstGeom>
          <a:noFill/>
        </p:spPr>
        <p:txBody>
          <a:bodyPr wrap="square">
            <a:spAutoFit/>
          </a:bodyPr>
          <a:lstStyle/>
          <a:p>
            <a:pPr algn="l"/>
            <a:r>
              <a:rPr sz="1100" b="0" i="0">
                <a:solidFill>
                  <a:srgbClr val="94A3B8"/>
                </a:solidFill>
                <a:latin typeface="Segoe UI"/>
              </a:rPr>
              <a:t>Base64-encoded bytes als
data:audio/midi;base64,…
direct in de HTML pagina.</a:t>
            </a:r>
          </a:p>
        </p:txBody>
      </p:sp>
      <p:sp>
        <p:nvSpPr>
          <p:cNvPr id="19" name="TextBox 18"/>
          <p:cNvSpPr txBox="1"/>
          <p:nvPr/>
        </p:nvSpPr>
        <p:spPr>
          <a:xfrm>
            <a:off x="8805672" y="2560320"/>
            <a:ext cx="146304" cy="457200"/>
          </a:xfrm>
          <a:prstGeom prst="rect">
            <a:avLst/>
          </a:prstGeom>
          <a:noFill/>
        </p:spPr>
        <p:txBody>
          <a:bodyPr wrap="square">
            <a:spAutoFit/>
          </a:bodyPr>
          <a:lstStyle/>
          <a:p>
            <a:pPr algn="ctr"/>
            <a:r>
              <a:rPr sz="1800" b="0" i="0">
                <a:solidFill>
                  <a:srgbClr val="475569"/>
                </a:solidFill>
                <a:latin typeface="Segoe UI"/>
              </a:rPr>
              <a:t>→</a:t>
            </a:r>
          </a:p>
        </p:txBody>
      </p:sp>
      <p:sp>
        <p:nvSpPr>
          <p:cNvPr id="20" name="Rectangle 19"/>
          <p:cNvSpPr/>
          <p:nvPr/>
        </p:nvSpPr>
        <p:spPr>
          <a:xfrm>
            <a:off x="8951976" y="1554480"/>
            <a:ext cx="2651760" cy="2743200"/>
          </a:xfrm>
          <a:prstGeom prst="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51976" y="1691640"/>
            <a:ext cx="2651760" cy="640080"/>
          </a:xfrm>
          <a:prstGeom prst="rect">
            <a:avLst/>
          </a:prstGeom>
          <a:noFill/>
        </p:spPr>
        <p:txBody>
          <a:bodyPr wrap="square">
            <a:spAutoFit/>
          </a:bodyPr>
          <a:lstStyle/>
          <a:p>
            <a:pPr algn="ctr"/>
            <a:r>
              <a:rPr sz="2800" b="0" i="0">
                <a:solidFill>
                  <a:srgbClr val="E2E8F0"/>
                </a:solidFill>
                <a:latin typeface="Segoe UI"/>
              </a:rPr>
              <a:t>🎹</a:t>
            </a:r>
          </a:p>
        </p:txBody>
      </p:sp>
      <p:sp>
        <p:nvSpPr>
          <p:cNvPr id="22" name="TextBox 21"/>
          <p:cNvSpPr txBox="1"/>
          <p:nvPr/>
        </p:nvSpPr>
        <p:spPr>
          <a:xfrm>
            <a:off x="9061704" y="2286000"/>
            <a:ext cx="2432304" cy="411480"/>
          </a:xfrm>
          <a:prstGeom prst="rect">
            <a:avLst/>
          </a:prstGeom>
          <a:noFill/>
        </p:spPr>
        <p:txBody>
          <a:bodyPr wrap="square">
            <a:spAutoFit/>
          </a:bodyPr>
          <a:lstStyle/>
          <a:p>
            <a:pPr algn="l"/>
            <a:r>
              <a:rPr sz="1300" b="1" i="0">
                <a:solidFill>
                  <a:srgbClr val="10B981"/>
                </a:solidFill>
                <a:latin typeface="Segoe UI"/>
              </a:rPr>
              <a:t>Browser speelt af</a:t>
            </a:r>
          </a:p>
        </p:txBody>
      </p:sp>
      <p:sp>
        <p:nvSpPr>
          <p:cNvPr id="23" name="TextBox 22"/>
          <p:cNvSpPr txBox="1"/>
          <p:nvPr/>
        </p:nvSpPr>
        <p:spPr>
          <a:xfrm>
            <a:off x="9061704" y="2743200"/>
            <a:ext cx="2432304" cy="1371600"/>
          </a:xfrm>
          <a:prstGeom prst="rect">
            <a:avLst/>
          </a:prstGeom>
          <a:noFill/>
        </p:spPr>
        <p:txBody>
          <a:bodyPr wrap="square">
            <a:spAutoFit/>
          </a:bodyPr>
          <a:lstStyle/>
          <a:p>
            <a:pPr algn="l"/>
            <a:r>
              <a:rPr sz="1100" b="0" i="0">
                <a:solidFill>
                  <a:srgbClr val="94A3B8"/>
                </a:solidFill>
                <a:latin typeface="Segoe UI"/>
              </a:rPr>
              <a:t>html-midi-player + Magenta.js:
piano-roll + geluid.
Download ingebouwd.</a:t>
            </a:r>
          </a:p>
        </p:txBody>
      </p:sp>
      <p:sp>
        <p:nvSpPr>
          <p:cNvPr id="24" name="Rectangle 23"/>
          <p:cNvSpPr/>
          <p:nvPr/>
        </p:nvSpPr>
        <p:spPr>
          <a:xfrm>
            <a:off x="502920" y="4572000"/>
            <a:ext cx="11155680" cy="777240"/>
          </a:xfrm>
          <a:prstGeom prst="rect">
            <a:avLst/>
          </a:prstGeom>
          <a:solidFill>
            <a:srgbClr val="0E28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681728"/>
            <a:ext cx="10698480" cy="548640"/>
          </a:xfrm>
          <a:prstGeom prst="rect">
            <a:avLst/>
          </a:prstGeom>
          <a:noFill/>
        </p:spPr>
        <p:txBody>
          <a:bodyPr wrap="square">
            <a:spAutoFit/>
          </a:bodyPr>
          <a:lstStyle/>
          <a:p>
            <a:pPr algn="l"/>
            <a:r>
              <a:rPr sz="1400" b="0" i="1">
                <a:solidFill>
                  <a:srgbClr val="E2E8F0"/>
                </a:solidFill>
                <a:latin typeface="Segoe UI"/>
              </a:rPr>
              <a:t>Geen enkel serververzoek na het laden van de pagina — alles draait client-side in de browser.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Vier gegenereerde versies</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Zelfde seed — vier strategieën met oplopende intelligentie</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2606040" cy="3931920"/>
          </a:xfrm>
          <a:prstGeom prst="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2606040" cy="4754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53896"/>
            <a:ext cx="2441448" cy="402336"/>
          </a:xfrm>
          <a:prstGeom prst="rect">
            <a:avLst/>
          </a:prstGeom>
          <a:noFill/>
        </p:spPr>
        <p:txBody>
          <a:bodyPr wrap="square">
            <a:spAutoFit/>
          </a:bodyPr>
          <a:lstStyle/>
          <a:p>
            <a:pPr algn="l"/>
            <a:r>
              <a:rPr sz="1300" b="1" i="0">
                <a:solidFill>
                  <a:srgbClr val="0F172A"/>
                </a:solidFill>
                <a:latin typeface="Segoe UI"/>
              </a:rPr>
              <a:t>🤖  AI-aanvulling</a:t>
            </a:r>
          </a:p>
        </p:txBody>
      </p:sp>
      <p:sp>
        <p:nvSpPr>
          <p:cNvPr id="8" name="TextBox 7"/>
          <p:cNvSpPr txBox="1"/>
          <p:nvPr/>
        </p:nvSpPr>
        <p:spPr>
          <a:xfrm>
            <a:off x="612648" y="1993392"/>
            <a:ext cx="2386584" cy="3200400"/>
          </a:xfrm>
          <a:prstGeom prst="rect">
            <a:avLst/>
          </a:prstGeom>
          <a:noFill/>
        </p:spPr>
        <p:txBody>
          <a:bodyPr wrap="square">
            <a:spAutoFit/>
          </a:bodyPr>
          <a:lstStyle/>
          <a:p>
            <a:pPr algn="l"/>
            <a:r>
              <a:rPr sz="1100" b="0" i="0">
                <a:solidFill>
                  <a:srgbClr val="E2E8F0"/>
                </a:solidFill>
                <a:latin typeface="Segoe UI"/>
              </a:rPr>
              <a:t>Seed: eerste helft
Ritme: origineel
Toonaard: gefilterd
Model: ongewijzigd</a:t>
            </a:r>
          </a:p>
        </p:txBody>
      </p:sp>
      <p:sp>
        <p:nvSpPr>
          <p:cNvPr id="9" name="Rectangle 8"/>
          <p:cNvSpPr/>
          <p:nvPr/>
        </p:nvSpPr>
        <p:spPr>
          <a:xfrm>
            <a:off x="3246120" y="1417320"/>
            <a:ext cx="2606040" cy="39319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6120" y="1417320"/>
            <a:ext cx="2606040"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453896"/>
            <a:ext cx="2441448" cy="402336"/>
          </a:xfrm>
          <a:prstGeom prst="rect">
            <a:avLst/>
          </a:prstGeom>
          <a:noFill/>
        </p:spPr>
        <p:txBody>
          <a:bodyPr wrap="square">
            <a:spAutoFit/>
          </a:bodyPr>
          <a:lstStyle/>
          <a:p>
            <a:pPr algn="l"/>
            <a:r>
              <a:rPr sz="1300" b="1" i="0">
                <a:solidFill>
                  <a:srgbClr val="0F172A"/>
                </a:solidFill>
                <a:latin typeface="Segoe UI"/>
              </a:rPr>
              <a:t>🧠  Fine-tuned</a:t>
            </a:r>
          </a:p>
        </p:txBody>
      </p:sp>
      <p:sp>
        <p:nvSpPr>
          <p:cNvPr id="12" name="TextBox 11"/>
          <p:cNvSpPr txBox="1"/>
          <p:nvPr/>
        </p:nvSpPr>
        <p:spPr>
          <a:xfrm>
            <a:off x="3355848" y="1993392"/>
            <a:ext cx="2386584" cy="3200400"/>
          </a:xfrm>
          <a:prstGeom prst="rect">
            <a:avLst/>
          </a:prstGeom>
          <a:noFill/>
        </p:spPr>
        <p:txBody>
          <a:bodyPr wrap="square">
            <a:spAutoFit/>
          </a:bodyPr>
          <a:lstStyle/>
          <a:p>
            <a:pPr algn="l"/>
            <a:r>
              <a:rPr sz="1100" b="0" i="0">
                <a:solidFill>
                  <a:srgbClr val="E2E8F0"/>
                </a:solidFill>
                <a:latin typeface="Segoe UI"/>
              </a:rPr>
              <a:t>Seed: eerste helft
Ritme: origineel
Toonaard: gefilterd
Model: 8 epochs bijgetraind
op de eerste helft</a:t>
            </a:r>
          </a:p>
        </p:txBody>
      </p:sp>
      <p:sp>
        <p:nvSpPr>
          <p:cNvPr id="13" name="Rectangle 12"/>
          <p:cNvSpPr/>
          <p:nvPr/>
        </p:nvSpPr>
        <p:spPr>
          <a:xfrm>
            <a:off x="5989320" y="1417320"/>
            <a:ext cx="2606040" cy="3931920"/>
          </a:xfrm>
          <a:prstGeom prst="rect">
            <a:avLst/>
          </a:prstGeom>
          <a:solidFill>
            <a:srgbClr val="1E293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89320" y="1417320"/>
            <a:ext cx="2606040" cy="47548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80760" y="1453896"/>
            <a:ext cx="2441448" cy="402336"/>
          </a:xfrm>
          <a:prstGeom prst="rect">
            <a:avLst/>
          </a:prstGeom>
          <a:noFill/>
        </p:spPr>
        <p:txBody>
          <a:bodyPr wrap="square">
            <a:spAutoFit/>
          </a:bodyPr>
          <a:lstStyle/>
          <a:p>
            <a:pPr algn="l"/>
            <a:r>
              <a:rPr sz="1300" b="1" i="0">
                <a:solidFill>
                  <a:srgbClr val="0F172A"/>
                </a:solidFill>
                <a:latin typeface="Segoe UI"/>
              </a:rPr>
              <a:t>🎼  Bach-stijl</a:t>
            </a:r>
          </a:p>
        </p:txBody>
      </p:sp>
      <p:sp>
        <p:nvSpPr>
          <p:cNvPr id="16" name="TextBox 15"/>
          <p:cNvSpPr txBox="1"/>
          <p:nvPr/>
        </p:nvSpPr>
        <p:spPr>
          <a:xfrm>
            <a:off x="6099048" y="1993392"/>
            <a:ext cx="2386584" cy="3200400"/>
          </a:xfrm>
          <a:prstGeom prst="rect">
            <a:avLst/>
          </a:prstGeom>
          <a:noFill/>
        </p:spPr>
        <p:txBody>
          <a:bodyPr wrap="square">
            <a:spAutoFit/>
          </a:bodyPr>
          <a:lstStyle/>
          <a:p>
            <a:pPr algn="l"/>
            <a:r>
              <a:rPr sz="1100" b="0" i="0">
                <a:solidFill>
                  <a:srgbClr val="E2E8F0"/>
                </a:solidFill>
                <a:latin typeface="Segoe UI"/>
              </a:rPr>
              <a:t>Seed: eerste 4 maten
Ritme: model genereert vrij
Toonaard: geen filter
Model: ongewijzigd</a:t>
            </a:r>
          </a:p>
        </p:txBody>
      </p:sp>
      <p:sp>
        <p:nvSpPr>
          <p:cNvPr id="17" name="Rectangle 16"/>
          <p:cNvSpPr/>
          <p:nvPr/>
        </p:nvSpPr>
        <p:spPr>
          <a:xfrm>
            <a:off x="8732520" y="1417320"/>
            <a:ext cx="2606040" cy="3931920"/>
          </a:xfrm>
          <a:prstGeom prst="rect">
            <a:avLst/>
          </a:prstGeom>
          <a:solidFill>
            <a:srgbClr val="1E293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732520" y="1417320"/>
            <a:ext cx="2606040" cy="47548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3960" y="1453896"/>
            <a:ext cx="2441448" cy="402336"/>
          </a:xfrm>
          <a:prstGeom prst="rect">
            <a:avLst/>
          </a:prstGeom>
          <a:noFill/>
        </p:spPr>
        <p:txBody>
          <a:bodyPr wrap="square">
            <a:spAutoFit/>
          </a:bodyPr>
          <a:lstStyle/>
          <a:p>
            <a:pPr algn="l"/>
            <a:r>
              <a:rPr sz="1300" b="1" i="0">
                <a:solidFill>
                  <a:srgbClr val="0F172A"/>
                </a:solidFill>
                <a:latin typeface="Segoe UI"/>
              </a:rPr>
              <a:t>🎲  Willekeurig</a:t>
            </a:r>
          </a:p>
        </p:txBody>
      </p:sp>
      <p:sp>
        <p:nvSpPr>
          <p:cNvPr id="20" name="TextBox 19"/>
          <p:cNvSpPr txBox="1"/>
          <p:nvPr/>
        </p:nvSpPr>
        <p:spPr>
          <a:xfrm>
            <a:off x="8842248" y="1993392"/>
            <a:ext cx="2386584" cy="3200400"/>
          </a:xfrm>
          <a:prstGeom prst="rect">
            <a:avLst/>
          </a:prstGeom>
          <a:noFill/>
        </p:spPr>
        <p:txBody>
          <a:bodyPr wrap="square">
            <a:spAutoFit/>
          </a:bodyPr>
          <a:lstStyle/>
          <a:p>
            <a:pPr algn="l"/>
            <a:r>
              <a:rPr sz="1100" b="0" i="0">
                <a:solidFill>
                  <a:srgbClr val="E2E8F0"/>
                </a:solidFill>
                <a:latin typeface="Segoe UI"/>
              </a:rPr>
              <a:t>Seed: eerste helft
Ritme: origineel
Toonaard: geen filter
Model: geen — random</a:t>
            </a:r>
          </a:p>
        </p:txBody>
      </p:sp>
      <p:sp>
        <p:nvSpPr>
          <p:cNvPr id="21" name="Rectangle 20"/>
          <p:cNvSpPr/>
          <p:nvPr/>
        </p:nvSpPr>
        <p:spPr>
          <a:xfrm>
            <a:off x="502920" y="5532120"/>
            <a:ext cx="11155680"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605272"/>
            <a:ext cx="10789920" cy="320040"/>
          </a:xfrm>
          <a:prstGeom prst="rect">
            <a:avLst/>
          </a:prstGeom>
          <a:noFill/>
        </p:spPr>
        <p:txBody>
          <a:bodyPr wrap="square">
            <a:spAutoFit/>
          </a:bodyPr>
          <a:lstStyle/>
          <a:p>
            <a:pPr algn="l"/>
            <a:r>
              <a:rPr sz="1300" b="1" i="0">
                <a:solidFill>
                  <a:srgbClr val="38BDF8"/>
                </a:solidFill>
                <a:latin typeface="Segoe UI"/>
              </a:rPr>
              <a:t>Vergelijking enkel op het gegenereerde deel.</a:t>
            </a:r>
          </a:p>
        </p:txBody>
      </p:sp>
      <p:sp>
        <p:nvSpPr>
          <p:cNvPr id="23" name="TextBox 22"/>
          <p:cNvSpPr txBox="1"/>
          <p:nvPr/>
        </p:nvSpPr>
        <p:spPr>
          <a:xfrm>
            <a:off x="685800" y="5943600"/>
            <a:ext cx="10789920" cy="566928"/>
          </a:xfrm>
          <a:prstGeom prst="rect">
            <a:avLst/>
          </a:prstGeom>
          <a:noFill/>
        </p:spPr>
        <p:txBody>
          <a:bodyPr wrap="square">
            <a:spAutoFit/>
          </a:bodyPr>
          <a:lstStyle/>
          <a:p>
            <a:pPr algn="l"/>
            <a:r>
              <a:rPr sz="1100" b="0" i="0">
                <a:solidFill>
                  <a:srgbClr val="94A3B8"/>
                </a:solidFill>
                <a:latin typeface="Segoe UI"/>
              </a:rPr>
              <a:t>AI-aanvulling, Fine-tuned en Willekeurig: tweede helft vergeleken.  Bach-stijl: maten 5–einde vergeleken (kortere seed = andere startpositie).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4 muzikale vergelijkingsmetrics</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Tweede helft gegenereerd vs. tweede helft origineel  ·  scores 0–100 %</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2651760" cy="457200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2651760" cy="10972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572768"/>
            <a:ext cx="2468880" cy="411480"/>
          </a:xfrm>
          <a:prstGeom prst="rect">
            <a:avLst/>
          </a:prstGeom>
          <a:noFill/>
        </p:spPr>
        <p:txBody>
          <a:bodyPr wrap="square">
            <a:spAutoFit/>
          </a:bodyPr>
          <a:lstStyle/>
          <a:p>
            <a:pPr algn="l"/>
            <a:r>
              <a:rPr sz="1500" b="1" i="0">
                <a:solidFill>
                  <a:srgbClr val="38BDF8"/>
                </a:solidFill>
                <a:latin typeface="Segoe UI"/>
              </a:rPr>
              <a:t>Chroma</a:t>
            </a:r>
          </a:p>
        </p:txBody>
      </p:sp>
      <p:sp>
        <p:nvSpPr>
          <p:cNvPr id="8" name="TextBox 7"/>
          <p:cNvSpPr txBox="1"/>
          <p:nvPr/>
        </p:nvSpPr>
        <p:spPr>
          <a:xfrm>
            <a:off x="612648" y="2011680"/>
            <a:ext cx="2468880" cy="347472"/>
          </a:xfrm>
          <a:prstGeom prst="rect">
            <a:avLst/>
          </a:prstGeom>
          <a:noFill/>
        </p:spPr>
        <p:txBody>
          <a:bodyPr wrap="square">
            <a:spAutoFit/>
          </a:bodyPr>
          <a:lstStyle/>
          <a:p>
            <a:pPr algn="l"/>
            <a:r>
              <a:rPr sz="1100" b="0" i="1">
                <a:solidFill>
                  <a:srgbClr val="F59E0B"/>
                </a:solidFill>
                <a:latin typeface="Segoe UI"/>
              </a:rPr>
              <a:t>Octaaf-invariant</a:t>
            </a:r>
          </a:p>
        </p:txBody>
      </p:sp>
      <p:sp>
        <p:nvSpPr>
          <p:cNvPr id="9" name="TextBox 8"/>
          <p:cNvSpPr txBox="1"/>
          <p:nvPr/>
        </p:nvSpPr>
        <p:spPr>
          <a:xfrm>
            <a:off x="612648" y="2423160"/>
            <a:ext cx="2468880" cy="3429000"/>
          </a:xfrm>
          <a:prstGeom prst="rect">
            <a:avLst/>
          </a:prstGeom>
          <a:noFill/>
        </p:spPr>
        <p:txBody>
          <a:bodyPr wrap="square">
            <a:spAutoFit/>
          </a:bodyPr>
          <a:lstStyle/>
          <a:p>
            <a:pPr algn="l"/>
            <a:r>
              <a:rPr sz="1100" b="0" i="0">
                <a:solidFill>
                  <a:srgbClr val="94A3B8"/>
                </a:solidFill>
                <a:latin typeface="Segoe UI"/>
              </a:rPr>
              <a:t>Noten herleid tot toonklasse
(C=0 … B=11, mod 12).
12-dim vector.
Cosinus-gelijkenis.
Hoog = zelfde toonsoort.</a:t>
            </a:r>
          </a:p>
        </p:txBody>
      </p:sp>
      <p:sp>
        <p:nvSpPr>
          <p:cNvPr id="10" name="Rectangle 9"/>
          <p:cNvSpPr/>
          <p:nvPr/>
        </p:nvSpPr>
        <p:spPr>
          <a:xfrm>
            <a:off x="3319272" y="1417320"/>
            <a:ext cx="2651760" cy="4572000"/>
          </a:xfrm>
          <a:prstGeom prst="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19272" y="1417320"/>
            <a:ext cx="265176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572768"/>
            <a:ext cx="2468880" cy="411480"/>
          </a:xfrm>
          <a:prstGeom prst="rect">
            <a:avLst/>
          </a:prstGeom>
          <a:noFill/>
        </p:spPr>
        <p:txBody>
          <a:bodyPr wrap="square">
            <a:spAutoFit/>
          </a:bodyPr>
          <a:lstStyle/>
          <a:p>
            <a:pPr algn="l"/>
            <a:r>
              <a:rPr sz="1500" b="1" i="0">
                <a:solidFill>
                  <a:srgbClr val="10B981"/>
                </a:solidFill>
                <a:latin typeface="Segoe UI"/>
              </a:rPr>
              <a:t>Intervallen</a:t>
            </a:r>
          </a:p>
        </p:txBody>
      </p:sp>
      <p:sp>
        <p:nvSpPr>
          <p:cNvPr id="13" name="TextBox 12"/>
          <p:cNvSpPr txBox="1"/>
          <p:nvPr/>
        </p:nvSpPr>
        <p:spPr>
          <a:xfrm>
            <a:off x="3429000" y="2011680"/>
            <a:ext cx="2468880" cy="347472"/>
          </a:xfrm>
          <a:prstGeom prst="rect">
            <a:avLst/>
          </a:prstGeom>
          <a:noFill/>
        </p:spPr>
        <p:txBody>
          <a:bodyPr wrap="square">
            <a:spAutoFit/>
          </a:bodyPr>
          <a:lstStyle/>
          <a:p>
            <a:pPr algn="l"/>
            <a:r>
              <a:rPr sz="1100" b="0" i="1">
                <a:solidFill>
                  <a:srgbClr val="F59E0B"/>
                </a:solidFill>
                <a:latin typeface="Segoe UI"/>
              </a:rPr>
              <a:t>Transpositie-invariant</a:t>
            </a:r>
          </a:p>
        </p:txBody>
      </p:sp>
      <p:sp>
        <p:nvSpPr>
          <p:cNvPr id="14" name="TextBox 13"/>
          <p:cNvSpPr txBox="1"/>
          <p:nvPr/>
        </p:nvSpPr>
        <p:spPr>
          <a:xfrm>
            <a:off x="3429000" y="2423160"/>
            <a:ext cx="2468880" cy="3429000"/>
          </a:xfrm>
          <a:prstGeom prst="rect">
            <a:avLst/>
          </a:prstGeom>
          <a:noFill/>
        </p:spPr>
        <p:txBody>
          <a:bodyPr wrap="square">
            <a:spAutoFit/>
          </a:bodyPr>
          <a:lstStyle/>
          <a:p>
            <a:pPr algn="l"/>
            <a:r>
              <a:rPr sz="1100" b="0" i="0">
                <a:solidFill>
                  <a:srgbClr val="94A3B8"/>
                </a:solidFill>
                <a:latin typeface="Segoe UI"/>
              </a:rPr>
              <a:t>Interval tussen opeenvolgende
noten (−12 t/m +12 halve tonen,
25 bins). Cosinus.
Hoog = zelfde melodische
bewegingspatroon.</a:t>
            </a:r>
          </a:p>
        </p:txBody>
      </p:sp>
      <p:sp>
        <p:nvSpPr>
          <p:cNvPr id="15" name="Rectangle 14"/>
          <p:cNvSpPr/>
          <p:nvPr/>
        </p:nvSpPr>
        <p:spPr>
          <a:xfrm>
            <a:off x="6135624" y="1417320"/>
            <a:ext cx="2651760" cy="4572000"/>
          </a:xfrm>
          <a:prstGeom prst="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35624" y="1417320"/>
            <a:ext cx="265176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45352" y="1572768"/>
            <a:ext cx="2468880" cy="411480"/>
          </a:xfrm>
          <a:prstGeom prst="rect">
            <a:avLst/>
          </a:prstGeom>
          <a:noFill/>
        </p:spPr>
        <p:txBody>
          <a:bodyPr wrap="square">
            <a:spAutoFit/>
          </a:bodyPr>
          <a:lstStyle/>
          <a:p>
            <a:pPr algn="l"/>
            <a:r>
              <a:rPr sz="1500" b="1" i="0">
                <a:solidFill>
                  <a:srgbClr val="F59E0B"/>
                </a:solidFill>
                <a:latin typeface="Segoe UI"/>
              </a:rPr>
              <a:t>N-gram</a:t>
            </a:r>
          </a:p>
        </p:txBody>
      </p:sp>
      <p:sp>
        <p:nvSpPr>
          <p:cNvPr id="18" name="TextBox 17"/>
          <p:cNvSpPr txBox="1"/>
          <p:nvPr/>
        </p:nvSpPr>
        <p:spPr>
          <a:xfrm>
            <a:off x="6245352" y="2011680"/>
            <a:ext cx="2468880" cy="347472"/>
          </a:xfrm>
          <a:prstGeom prst="rect">
            <a:avLst/>
          </a:prstGeom>
          <a:noFill/>
        </p:spPr>
        <p:txBody>
          <a:bodyPr wrap="square">
            <a:spAutoFit/>
          </a:bodyPr>
          <a:lstStyle/>
          <a:p>
            <a:pPr algn="l"/>
            <a:r>
              <a:rPr sz="1100" b="0" i="1">
                <a:solidFill>
                  <a:srgbClr val="F59E0B"/>
                </a:solidFill>
                <a:latin typeface="Segoe UI"/>
              </a:rPr>
              <a:t>Lokale patronen · O(n)</a:t>
            </a:r>
          </a:p>
        </p:txBody>
      </p:sp>
      <p:sp>
        <p:nvSpPr>
          <p:cNvPr id="19" name="TextBox 18"/>
          <p:cNvSpPr txBox="1"/>
          <p:nvPr/>
        </p:nvSpPr>
        <p:spPr>
          <a:xfrm>
            <a:off x="6245352" y="2423160"/>
            <a:ext cx="2468880" cy="3429000"/>
          </a:xfrm>
          <a:prstGeom prst="rect">
            <a:avLst/>
          </a:prstGeom>
          <a:noFill/>
        </p:spPr>
        <p:txBody>
          <a:bodyPr wrap="square">
            <a:spAutoFit/>
          </a:bodyPr>
          <a:lstStyle/>
          <a:p>
            <a:pPr algn="l"/>
            <a:r>
              <a:rPr sz="1100" b="0" i="0">
                <a:solidFill>
                  <a:srgbClr val="94A3B8"/>
                </a:solidFill>
                <a:latin typeface="Segoe UI"/>
              </a:rPr>
              <a:t>Alle trigrams van toonklassen
geteld via cosinus-gelijkenis.
Vangt korte frasen.
Hoog = zelfde melodische
motieven als Bach.</a:t>
            </a:r>
          </a:p>
        </p:txBody>
      </p:sp>
      <p:sp>
        <p:nvSpPr>
          <p:cNvPr id="20" name="Rectangle 19"/>
          <p:cNvSpPr/>
          <p:nvPr/>
        </p:nvSpPr>
        <p:spPr>
          <a:xfrm>
            <a:off x="8951976" y="1417320"/>
            <a:ext cx="2651760" cy="4572000"/>
          </a:xfrm>
          <a:prstGeom prst="rect">
            <a:avLst/>
          </a:prstGeom>
          <a:solidFill>
            <a:srgbClr val="1E293B"/>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51976" y="1417320"/>
            <a:ext cx="2651760" cy="10972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61704" y="1572768"/>
            <a:ext cx="2468880" cy="411480"/>
          </a:xfrm>
          <a:prstGeom prst="rect">
            <a:avLst/>
          </a:prstGeom>
          <a:noFill/>
        </p:spPr>
        <p:txBody>
          <a:bodyPr wrap="square">
            <a:spAutoFit/>
          </a:bodyPr>
          <a:lstStyle/>
          <a:p>
            <a:pPr algn="l"/>
            <a:r>
              <a:rPr sz="1500" b="1" i="0">
                <a:solidFill>
                  <a:srgbClr val="A78BFA"/>
                </a:solidFill>
                <a:latin typeface="Segoe UI"/>
              </a:rPr>
              <a:t>Akkoorden</a:t>
            </a:r>
          </a:p>
        </p:txBody>
      </p:sp>
      <p:sp>
        <p:nvSpPr>
          <p:cNvPr id="23" name="TextBox 22"/>
          <p:cNvSpPr txBox="1"/>
          <p:nvPr/>
        </p:nvSpPr>
        <p:spPr>
          <a:xfrm>
            <a:off x="9061704" y="2011680"/>
            <a:ext cx="2468880" cy="347472"/>
          </a:xfrm>
          <a:prstGeom prst="rect">
            <a:avLst/>
          </a:prstGeom>
          <a:noFill/>
        </p:spPr>
        <p:txBody>
          <a:bodyPr wrap="square">
            <a:spAutoFit/>
          </a:bodyPr>
          <a:lstStyle/>
          <a:p>
            <a:pPr algn="l"/>
            <a:r>
              <a:rPr sz="1100" b="0" i="1">
                <a:solidFill>
                  <a:srgbClr val="F59E0B"/>
                </a:solidFill>
                <a:latin typeface="Segoe UI"/>
              </a:rPr>
              <a:t>Harmonisch vocabulaire</a:t>
            </a:r>
          </a:p>
        </p:txBody>
      </p:sp>
      <p:sp>
        <p:nvSpPr>
          <p:cNvPr id="24" name="TextBox 23"/>
          <p:cNvSpPr txBox="1"/>
          <p:nvPr/>
        </p:nvSpPr>
        <p:spPr>
          <a:xfrm>
            <a:off x="9061704" y="2423160"/>
            <a:ext cx="2468880" cy="3429000"/>
          </a:xfrm>
          <a:prstGeom prst="rect">
            <a:avLst/>
          </a:prstGeom>
          <a:noFill/>
        </p:spPr>
        <p:txBody>
          <a:bodyPr wrap="square">
            <a:spAutoFit/>
          </a:bodyPr>
          <a:lstStyle/>
          <a:p>
            <a:pPr algn="l"/>
            <a:r>
              <a:rPr sz="1100" b="0" i="0">
                <a:solidFill>
                  <a:srgbClr val="94A3B8"/>
                </a:solidFill>
                <a:latin typeface="Segoe UI"/>
              </a:rPr>
              <a:t>Akkoorden als frozensets van
toonklassen.
Jaccard: |A∩B| / |A∪B|.
Hoog = zelfde akkoordvoca-
bulaire als Bach.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De Streamlit-app</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Drie pagina's — overzicht, training, generatie</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3566160" cy="210312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527048"/>
            <a:ext cx="3236976" cy="347472"/>
          </a:xfrm>
          <a:prstGeom prst="rect">
            <a:avLst/>
          </a:prstGeom>
          <a:noFill/>
        </p:spPr>
        <p:txBody>
          <a:bodyPr wrap="square">
            <a:spAutoFit/>
          </a:bodyPr>
          <a:lstStyle/>
          <a:p>
            <a:pPr algn="l"/>
            <a:r>
              <a:rPr sz="1400" b="1" i="0">
                <a:solidFill>
                  <a:srgbClr val="38BDF8"/>
                </a:solidFill>
                <a:latin typeface="Segoe UI"/>
              </a:rPr>
              <a:t>🏠  app.py — Overzicht</a:t>
            </a:r>
          </a:p>
        </p:txBody>
      </p:sp>
      <p:sp>
        <p:nvSpPr>
          <p:cNvPr id="7" name="TextBox 6"/>
          <p:cNvSpPr txBox="1"/>
          <p:nvPr/>
        </p:nvSpPr>
        <p:spPr>
          <a:xfrm>
            <a:off x="667512" y="1892808"/>
            <a:ext cx="3236976" cy="1517904"/>
          </a:xfrm>
          <a:prstGeom prst="rect">
            <a:avLst/>
          </a:prstGeom>
          <a:noFill/>
        </p:spPr>
        <p:txBody>
          <a:bodyPr wrap="square">
            <a:spAutoFit/>
          </a:bodyPr>
          <a:lstStyle/>
          <a:p>
            <a:pPr algn="l"/>
            <a:r>
              <a:rPr sz="1100" b="0" i="0">
                <a:solidFill>
                  <a:srgbClr val="94A3B8"/>
                </a:solidFill>
                <a:latin typeface="Segoe UI"/>
              </a:rPr>
              <a:t>Filterbare tabel met alle werken.
Per werk: bladmuziek (abcjs)
en piano-roll.
Stemkeuze via multiselect.</a:t>
            </a:r>
          </a:p>
        </p:txBody>
      </p:sp>
      <p:sp>
        <p:nvSpPr>
          <p:cNvPr id="8" name="Rectangle 7"/>
          <p:cNvSpPr/>
          <p:nvPr/>
        </p:nvSpPr>
        <p:spPr>
          <a:xfrm>
            <a:off x="4251960" y="1417320"/>
            <a:ext cx="3566160" cy="210312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16552" y="1527048"/>
            <a:ext cx="3236976" cy="347472"/>
          </a:xfrm>
          <a:prstGeom prst="rect">
            <a:avLst/>
          </a:prstGeom>
          <a:noFill/>
        </p:spPr>
        <p:txBody>
          <a:bodyPr wrap="square">
            <a:spAutoFit/>
          </a:bodyPr>
          <a:lstStyle/>
          <a:p>
            <a:pPr algn="l"/>
            <a:r>
              <a:rPr sz="1400" b="1" i="0">
                <a:solidFill>
                  <a:srgbClr val="A78BFA"/>
                </a:solidFill>
                <a:latin typeface="Segoe UI"/>
              </a:rPr>
              <a:t>🎓  Training.py</a:t>
            </a:r>
          </a:p>
        </p:txBody>
      </p:sp>
      <p:sp>
        <p:nvSpPr>
          <p:cNvPr id="10" name="TextBox 9"/>
          <p:cNvSpPr txBox="1"/>
          <p:nvPr/>
        </p:nvSpPr>
        <p:spPr>
          <a:xfrm>
            <a:off x="4416552" y="1892808"/>
            <a:ext cx="3236976" cy="1517904"/>
          </a:xfrm>
          <a:prstGeom prst="rect">
            <a:avLst/>
          </a:prstGeom>
          <a:noFill/>
        </p:spPr>
        <p:txBody>
          <a:bodyPr wrap="square">
            <a:spAutoFit/>
          </a:bodyPr>
          <a:lstStyle/>
          <a:p>
            <a:pPr algn="l"/>
            <a:r>
              <a:rPr sz="1100" b="0" i="0">
                <a:solidFill>
                  <a:srgbClr val="94A3B8"/>
                </a:solidFill>
                <a:latin typeface="Segoe UI"/>
              </a:rPr>
              <a:t>Model trainen met live voortgang
en verliesplot.
Modelbeheer (verwijderen).
GPU auto-detectie.</a:t>
            </a:r>
          </a:p>
        </p:txBody>
      </p:sp>
      <p:sp>
        <p:nvSpPr>
          <p:cNvPr id="11" name="Rectangle 10"/>
          <p:cNvSpPr/>
          <p:nvPr/>
        </p:nvSpPr>
        <p:spPr>
          <a:xfrm>
            <a:off x="8001000" y="1417320"/>
            <a:ext cx="3566160" cy="210312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65592" y="1527048"/>
            <a:ext cx="3236976" cy="347472"/>
          </a:xfrm>
          <a:prstGeom prst="rect">
            <a:avLst/>
          </a:prstGeom>
          <a:noFill/>
        </p:spPr>
        <p:txBody>
          <a:bodyPr wrap="square">
            <a:spAutoFit/>
          </a:bodyPr>
          <a:lstStyle/>
          <a:p>
            <a:pPr algn="l"/>
            <a:r>
              <a:rPr sz="1400" b="1" i="0">
                <a:solidFill>
                  <a:srgbClr val="F59E0B"/>
                </a:solidFill>
                <a:latin typeface="Segoe UI"/>
              </a:rPr>
              <a:t>🎵  Genereer.py</a:t>
            </a:r>
          </a:p>
        </p:txBody>
      </p:sp>
      <p:sp>
        <p:nvSpPr>
          <p:cNvPr id="13" name="TextBox 12"/>
          <p:cNvSpPr txBox="1"/>
          <p:nvPr/>
        </p:nvSpPr>
        <p:spPr>
          <a:xfrm>
            <a:off x="8165592" y="1892808"/>
            <a:ext cx="3236976" cy="1517904"/>
          </a:xfrm>
          <a:prstGeom prst="rect">
            <a:avLst/>
          </a:prstGeom>
          <a:noFill/>
        </p:spPr>
        <p:txBody>
          <a:bodyPr wrap="square">
            <a:spAutoFit/>
          </a:bodyPr>
          <a:lstStyle/>
          <a:p>
            <a:pPr algn="l"/>
            <a:r>
              <a:rPr sz="1100" b="0" i="0">
                <a:solidFill>
                  <a:srgbClr val="94A3B8"/>
                </a:solidFill>
                <a:latin typeface="Segoe UI"/>
              </a:rPr>
              <a:t>Aanvulling of Bach-stijl.
Temperatuur- en top-k sliders.
Twee piano-rolls naast
elkaar met maat-enteller.</a:t>
            </a:r>
          </a:p>
        </p:txBody>
      </p:sp>
      <p:sp>
        <p:nvSpPr>
          <p:cNvPr id="14" name="TextBox 13"/>
          <p:cNvSpPr txBox="1"/>
          <p:nvPr/>
        </p:nvSpPr>
        <p:spPr>
          <a:xfrm>
            <a:off x="502920" y="3749039"/>
            <a:ext cx="5486400" cy="347472"/>
          </a:xfrm>
          <a:prstGeom prst="rect">
            <a:avLst/>
          </a:prstGeom>
          <a:noFill/>
        </p:spPr>
        <p:txBody>
          <a:bodyPr wrap="square">
            <a:spAutoFit/>
          </a:bodyPr>
          <a:lstStyle/>
          <a:p>
            <a:pPr algn="l"/>
            <a:r>
              <a:rPr sz="1200" b="0" i="0">
                <a:solidFill>
                  <a:srgbClr val="475569"/>
                </a:solidFill>
                <a:latin typeface="Segoe UI"/>
              </a:rPr>
              <a:t>Maat-enteller (JavaScript · elke 100 ms)</a:t>
            </a:r>
          </a:p>
        </p:txBody>
      </p:sp>
      <p:sp>
        <p:nvSpPr>
          <p:cNvPr id="15" name="Rectangle 14"/>
          <p:cNvSpPr/>
          <p:nvPr/>
        </p:nvSpPr>
        <p:spPr>
          <a:xfrm>
            <a:off x="502920" y="4160520"/>
            <a:ext cx="5029200" cy="45720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233672"/>
            <a:ext cx="4663440" cy="329184"/>
          </a:xfrm>
          <a:prstGeom prst="rect">
            <a:avLst/>
          </a:prstGeom>
          <a:noFill/>
        </p:spPr>
        <p:txBody>
          <a:bodyPr wrap="square">
            <a:spAutoFit/>
          </a:bodyPr>
          <a:lstStyle/>
          <a:p>
            <a:pPr algn="l"/>
            <a:r>
              <a:rPr sz="1300" b="1" i="0">
                <a:solidFill>
                  <a:srgbClr val="38BDF8"/>
                </a:solidFill>
                <a:latin typeface="Segoe UI"/>
              </a:rPr>
              <a:t>Maat 12 / 24   (origineel)</a:t>
            </a:r>
          </a:p>
        </p:txBody>
      </p:sp>
      <p:sp>
        <p:nvSpPr>
          <p:cNvPr id="17" name="Rectangle 16"/>
          <p:cNvSpPr/>
          <p:nvPr/>
        </p:nvSpPr>
        <p:spPr>
          <a:xfrm>
            <a:off x="502920" y="4709160"/>
            <a:ext cx="5029200" cy="457200"/>
          </a:xfrm>
          <a:prstGeom prst="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782312"/>
            <a:ext cx="4663440" cy="329184"/>
          </a:xfrm>
          <a:prstGeom prst="rect">
            <a:avLst/>
          </a:prstGeom>
          <a:noFill/>
        </p:spPr>
        <p:txBody>
          <a:bodyPr wrap="square">
            <a:spAutoFit/>
          </a:bodyPr>
          <a:lstStyle/>
          <a:p>
            <a:pPr algn="l"/>
            <a:r>
              <a:rPr sz="1300" b="1" i="0">
                <a:solidFill>
                  <a:srgbClr val="F59E0B"/>
                </a:solidFill>
                <a:latin typeface="Segoe UI"/>
              </a:rPr>
              <a:t>Maat 16 / 24   (AI)</a:t>
            </a:r>
          </a:p>
        </p:txBody>
      </p:sp>
      <p:sp>
        <p:nvSpPr>
          <p:cNvPr id="19" name="TextBox 18"/>
          <p:cNvSpPr txBox="1"/>
          <p:nvPr/>
        </p:nvSpPr>
        <p:spPr>
          <a:xfrm>
            <a:off x="6400800" y="3749039"/>
            <a:ext cx="5486400" cy="347472"/>
          </a:xfrm>
          <a:prstGeom prst="rect">
            <a:avLst/>
          </a:prstGeom>
          <a:noFill/>
        </p:spPr>
        <p:txBody>
          <a:bodyPr wrap="square">
            <a:spAutoFit/>
          </a:bodyPr>
          <a:lstStyle/>
          <a:p>
            <a:pPr algn="l"/>
            <a:r>
              <a:rPr sz="1200" b="0" i="0">
                <a:solidFill>
                  <a:srgbClr val="475569"/>
                </a:solidFill>
                <a:latin typeface="Segoe UI"/>
              </a:rPr>
              <a:t>Splitsbalk</a:t>
            </a:r>
          </a:p>
        </p:txBody>
      </p:sp>
      <p:sp>
        <p:nvSpPr>
          <p:cNvPr id="20" name="Rectangle 19"/>
          <p:cNvSpPr/>
          <p:nvPr/>
        </p:nvSpPr>
        <p:spPr>
          <a:xfrm>
            <a:off x="6400800" y="4160520"/>
            <a:ext cx="2743200"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0" y="4160520"/>
            <a:ext cx="2743200"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572000"/>
            <a:ext cx="2743200" cy="320040"/>
          </a:xfrm>
          <a:prstGeom prst="rect">
            <a:avLst/>
          </a:prstGeom>
          <a:noFill/>
        </p:spPr>
        <p:txBody>
          <a:bodyPr wrap="square">
            <a:spAutoFit/>
          </a:bodyPr>
          <a:lstStyle/>
          <a:p>
            <a:pPr algn="l"/>
            <a:r>
              <a:rPr sz="1100" b="0" i="0">
                <a:solidFill>
                  <a:srgbClr val="38BDF8"/>
                </a:solidFill>
                <a:latin typeface="Segoe UI"/>
              </a:rPr>
              <a:t>🔵 eerste helft · origineel</a:t>
            </a:r>
          </a:p>
        </p:txBody>
      </p:sp>
      <p:sp>
        <p:nvSpPr>
          <p:cNvPr id="23" name="TextBox 22"/>
          <p:cNvSpPr txBox="1"/>
          <p:nvPr/>
        </p:nvSpPr>
        <p:spPr>
          <a:xfrm>
            <a:off x="9144000" y="4572000"/>
            <a:ext cx="2743200" cy="320040"/>
          </a:xfrm>
          <a:prstGeom prst="rect">
            <a:avLst/>
          </a:prstGeom>
          <a:noFill/>
        </p:spPr>
        <p:txBody>
          <a:bodyPr wrap="square">
            <a:spAutoFit/>
          </a:bodyPr>
          <a:lstStyle/>
          <a:p>
            <a:pPr algn="r"/>
            <a:r>
              <a:rPr sz="1100" b="0" i="0">
                <a:solidFill>
                  <a:srgbClr val="F59E0B"/>
                </a:solidFill>
                <a:latin typeface="Segoe UI"/>
              </a:rPr>
              <a:t>🟡 tweede helft · AI</a:t>
            </a:r>
          </a:p>
        </p:txBody>
      </p:sp>
      <p:sp>
        <p:nvSpPr>
          <p:cNvPr id="24" name="TextBox 23"/>
          <p:cNvSpPr txBox="1"/>
          <p:nvPr/>
        </p:nvSpPr>
        <p:spPr>
          <a:xfrm>
            <a:off x="502920" y="5577840"/>
            <a:ext cx="11155680" cy="457200"/>
          </a:xfrm>
          <a:prstGeom prst="rect">
            <a:avLst/>
          </a:prstGeom>
          <a:noFill/>
        </p:spPr>
        <p:txBody>
          <a:bodyPr wrap="square">
            <a:spAutoFit/>
          </a:bodyPr>
          <a:lstStyle/>
          <a:p>
            <a:pPr algn="l"/>
            <a:r>
              <a:rPr sz="1200" b="0" i="0">
                <a:solidFill>
                  <a:srgbClr val="94A3B8"/>
                </a:solidFill>
                <a:latin typeface="Segoe UI"/>
              </a:rPr>
              <a:t>Beide formaten (MIDI als data-URI) worden in dezelfde HTML ingebed — geen extra serververzoeken.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Tech-stack</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Alle tools en bibliotheken die het project gebruikt</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2651760" cy="1691640"/>
          </a:xfrm>
          <a:prstGeom prst="rect">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54480"/>
            <a:ext cx="2651760" cy="502920"/>
          </a:xfrm>
          <a:prstGeom prst="rect">
            <a:avLst/>
          </a:prstGeom>
          <a:noFill/>
        </p:spPr>
        <p:txBody>
          <a:bodyPr wrap="square">
            <a:spAutoFit/>
          </a:bodyPr>
          <a:lstStyle/>
          <a:p>
            <a:pPr algn="ctr"/>
            <a:r>
              <a:rPr sz="2400" b="0" i="0">
                <a:solidFill>
                  <a:srgbClr val="E2E8F0"/>
                </a:solidFill>
                <a:latin typeface="Segoe UI"/>
              </a:rPr>
              <a:t>🔥</a:t>
            </a:r>
          </a:p>
        </p:txBody>
      </p:sp>
      <p:sp>
        <p:nvSpPr>
          <p:cNvPr id="7" name="TextBox 6"/>
          <p:cNvSpPr txBox="1"/>
          <p:nvPr/>
        </p:nvSpPr>
        <p:spPr>
          <a:xfrm>
            <a:off x="612648" y="2057400"/>
            <a:ext cx="2432304" cy="411480"/>
          </a:xfrm>
          <a:prstGeom prst="rect">
            <a:avLst/>
          </a:prstGeom>
          <a:noFill/>
        </p:spPr>
        <p:txBody>
          <a:bodyPr wrap="square">
            <a:spAutoFit/>
          </a:bodyPr>
          <a:lstStyle/>
          <a:p>
            <a:pPr algn="ctr"/>
            <a:r>
              <a:rPr sz="1300" b="1" i="0">
                <a:solidFill>
                  <a:srgbClr val="38BDF8"/>
                </a:solidFill>
                <a:latin typeface="Segoe UI"/>
              </a:rPr>
              <a:t>PyTorch</a:t>
            </a:r>
          </a:p>
        </p:txBody>
      </p:sp>
      <p:sp>
        <p:nvSpPr>
          <p:cNvPr id="8" name="TextBox 7"/>
          <p:cNvSpPr txBox="1"/>
          <p:nvPr/>
        </p:nvSpPr>
        <p:spPr>
          <a:xfrm>
            <a:off x="612648" y="2468880"/>
            <a:ext cx="2432304" cy="502920"/>
          </a:xfrm>
          <a:prstGeom prst="rect">
            <a:avLst/>
          </a:prstGeom>
          <a:noFill/>
        </p:spPr>
        <p:txBody>
          <a:bodyPr wrap="square">
            <a:spAutoFit/>
          </a:bodyPr>
          <a:lstStyle/>
          <a:p>
            <a:pPr algn="ctr"/>
            <a:r>
              <a:rPr sz="1000" b="0" i="0">
                <a:solidFill>
                  <a:srgbClr val="94A3B8"/>
                </a:solidFill>
                <a:latin typeface="Segoe UI"/>
              </a:rPr>
              <a:t>LSTM-model &amp; training</a:t>
            </a:r>
          </a:p>
        </p:txBody>
      </p:sp>
      <p:sp>
        <p:nvSpPr>
          <p:cNvPr id="9" name="Rectangle 8"/>
          <p:cNvSpPr/>
          <p:nvPr/>
        </p:nvSpPr>
        <p:spPr>
          <a:xfrm>
            <a:off x="3319272" y="1417320"/>
            <a:ext cx="2651760" cy="1691640"/>
          </a:xfrm>
          <a:prstGeom prst="rect">
            <a:avLst/>
          </a:prstGeom>
          <a:solidFill>
            <a:srgbClr val="1E293B"/>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9272" y="1554480"/>
            <a:ext cx="2651760" cy="502920"/>
          </a:xfrm>
          <a:prstGeom prst="rect">
            <a:avLst/>
          </a:prstGeom>
          <a:noFill/>
        </p:spPr>
        <p:txBody>
          <a:bodyPr wrap="square">
            <a:spAutoFit/>
          </a:bodyPr>
          <a:lstStyle/>
          <a:p>
            <a:pPr algn="ctr"/>
            <a:r>
              <a:rPr sz="2400" b="0" i="0">
                <a:solidFill>
                  <a:srgbClr val="E2E8F0"/>
                </a:solidFill>
                <a:latin typeface="Segoe UI"/>
              </a:rPr>
              <a:t>🎵</a:t>
            </a:r>
          </a:p>
        </p:txBody>
      </p:sp>
      <p:sp>
        <p:nvSpPr>
          <p:cNvPr id="11" name="TextBox 10"/>
          <p:cNvSpPr txBox="1"/>
          <p:nvPr/>
        </p:nvSpPr>
        <p:spPr>
          <a:xfrm>
            <a:off x="3429000" y="2057400"/>
            <a:ext cx="2432304" cy="411480"/>
          </a:xfrm>
          <a:prstGeom prst="rect">
            <a:avLst/>
          </a:prstGeom>
          <a:noFill/>
        </p:spPr>
        <p:txBody>
          <a:bodyPr wrap="square">
            <a:spAutoFit/>
          </a:bodyPr>
          <a:lstStyle/>
          <a:p>
            <a:pPr algn="ctr"/>
            <a:r>
              <a:rPr sz="1300" b="1" i="0">
                <a:solidFill>
                  <a:srgbClr val="F59E0B"/>
                </a:solidFill>
                <a:latin typeface="Segoe UI"/>
              </a:rPr>
              <a:t>music21</a:t>
            </a:r>
          </a:p>
        </p:txBody>
      </p:sp>
      <p:sp>
        <p:nvSpPr>
          <p:cNvPr id="12" name="TextBox 11"/>
          <p:cNvSpPr txBox="1"/>
          <p:nvPr/>
        </p:nvSpPr>
        <p:spPr>
          <a:xfrm>
            <a:off x="3429000" y="2468880"/>
            <a:ext cx="2432304" cy="502920"/>
          </a:xfrm>
          <a:prstGeom prst="rect">
            <a:avLst/>
          </a:prstGeom>
          <a:noFill/>
        </p:spPr>
        <p:txBody>
          <a:bodyPr wrap="square">
            <a:spAutoFit/>
          </a:bodyPr>
          <a:lstStyle/>
          <a:p>
            <a:pPr algn="ctr"/>
            <a:r>
              <a:rPr sz="1000" b="0" i="0">
                <a:solidFill>
                  <a:srgbClr val="94A3B8"/>
                </a:solidFill>
                <a:latin typeface="Segoe UI"/>
              </a:rPr>
              <a:t>MIDI/XML parsing &amp; export</a:t>
            </a:r>
          </a:p>
        </p:txBody>
      </p:sp>
      <p:sp>
        <p:nvSpPr>
          <p:cNvPr id="13" name="Rectangle 12"/>
          <p:cNvSpPr/>
          <p:nvPr/>
        </p:nvSpPr>
        <p:spPr>
          <a:xfrm>
            <a:off x="6135624" y="1417320"/>
            <a:ext cx="2651760" cy="1691640"/>
          </a:xfrm>
          <a:prstGeom prst="rect">
            <a:avLst/>
          </a:prstGeom>
          <a:solidFill>
            <a:srgbClr val="1E293B"/>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35624" y="1554480"/>
            <a:ext cx="2651760" cy="502920"/>
          </a:xfrm>
          <a:prstGeom prst="rect">
            <a:avLst/>
          </a:prstGeom>
          <a:noFill/>
        </p:spPr>
        <p:txBody>
          <a:bodyPr wrap="square">
            <a:spAutoFit/>
          </a:bodyPr>
          <a:lstStyle/>
          <a:p>
            <a:pPr algn="ctr"/>
            <a:r>
              <a:rPr sz="2400" b="0" i="0">
                <a:solidFill>
                  <a:srgbClr val="E2E8F0"/>
                </a:solidFill>
                <a:latin typeface="Segoe UI"/>
              </a:rPr>
              <a:t>🌊</a:t>
            </a:r>
          </a:p>
        </p:txBody>
      </p:sp>
      <p:sp>
        <p:nvSpPr>
          <p:cNvPr id="15" name="TextBox 14"/>
          <p:cNvSpPr txBox="1"/>
          <p:nvPr/>
        </p:nvSpPr>
        <p:spPr>
          <a:xfrm>
            <a:off x="6245352" y="2057400"/>
            <a:ext cx="2432304" cy="411480"/>
          </a:xfrm>
          <a:prstGeom prst="rect">
            <a:avLst/>
          </a:prstGeom>
          <a:noFill/>
        </p:spPr>
        <p:txBody>
          <a:bodyPr wrap="square">
            <a:spAutoFit/>
          </a:bodyPr>
          <a:lstStyle/>
          <a:p>
            <a:pPr algn="ctr"/>
            <a:r>
              <a:rPr sz="1300" b="1" i="0">
                <a:solidFill>
                  <a:srgbClr val="A78BFA"/>
                </a:solidFill>
                <a:latin typeface="Segoe UI"/>
              </a:rPr>
              <a:t>Streamlit</a:t>
            </a:r>
          </a:p>
        </p:txBody>
      </p:sp>
      <p:sp>
        <p:nvSpPr>
          <p:cNvPr id="16" name="TextBox 15"/>
          <p:cNvSpPr txBox="1"/>
          <p:nvPr/>
        </p:nvSpPr>
        <p:spPr>
          <a:xfrm>
            <a:off x="6245352" y="2468880"/>
            <a:ext cx="2432304" cy="502920"/>
          </a:xfrm>
          <a:prstGeom prst="rect">
            <a:avLst/>
          </a:prstGeom>
          <a:noFill/>
        </p:spPr>
        <p:txBody>
          <a:bodyPr wrap="square">
            <a:spAutoFit/>
          </a:bodyPr>
          <a:lstStyle/>
          <a:p>
            <a:pPr algn="ctr"/>
            <a:r>
              <a:rPr sz="1000" b="0" i="0">
                <a:solidFill>
                  <a:srgbClr val="94A3B8"/>
                </a:solidFill>
                <a:latin typeface="Segoe UI"/>
              </a:rPr>
              <a:t>Interactieve UI</a:t>
            </a:r>
          </a:p>
        </p:txBody>
      </p:sp>
      <p:sp>
        <p:nvSpPr>
          <p:cNvPr id="17" name="Rectangle 16"/>
          <p:cNvSpPr/>
          <p:nvPr/>
        </p:nvSpPr>
        <p:spPr>
          <a:xfrm>
            <a:off x="8951976" y="1417320"/>
            <a:ext cx="2651760" cy="1691640"/>
          </a:xfrm>
          <a:prstGeom prst="rect">
            <a:avLst/>
          </a:prstGeom>
          <a:solidFill>
            <a:srgbClr val="1E293B"/>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51976" y="1554480"/>
            <a:ext cx="2651760" cy="502920"/>
          </a:xfrm>
          <a:prstGeom prst="rect">
            <a:avLst/>
          </a:prstGeom>
          <a:noFill/>
        </p:spPr>
        <p:txBody>
          <a:bodyPr wrap="square">
            <a:spAutoFit/>
          </a:bodyPr>
          <a:lstStyle/>
          <a:p>
            <a:pPr algn="ctr"/>
            <a:r>
              <a:rPr sz="2400" b="0" i="0">
                <a:solidFill>
                  <a:srgbClr val="E2E8F0"/>
                </a:solidFill>
                <a:latin typeface="Segoe UI"/>
              </a:rPr>
              <a:t>🐼</a:t>
            </a:r>
          </a:p>
        </p:txBody>
      </p:sp>
      <p:sp>
        <p:nvSpPr>
          <p:cNvPr id="19" name="TextBox 18"/>
          <p:cNvSpPr txBox="1"/>
          <p:nvPr/>
        </p:nvSpPr>
        <p:spPr>
          <a:xfrm>
            <a:off x="9061704" y="2057400"/>
            <a:ext cx="2432304" cy="411480"/>
          </a:xfrm>
          <a:prstGeom prst="rect">
            <a:avLst/>
          </a:prstGeom>
          <a:noFill/>
        </p:spPr>
        <p:txBody>
          <a:bodyPr wrap="square">
            <a:spAutoFit/>
          </a:bodyPr>
          <a:lstStyle/>
          <a:p>
            <a:pPr algn="ctr"/>
            <a:r>
              <a:rPr sz="1300" b="1" i="0">
                <a:solidFill>
                  <a:srgbClr val="10B981"/>
                </a:solidFill>
                <a:latin typeface="Segoe UI"/>
              </a:rPr>
              <a:t>pandas</a:t>
            </a:r>
          </a:p>
        </p:txBody>
      </p:sp>
      <p:sp>
        <p:nvSpPr>
          <p:cNvPr id="20" name="TextBox 19"/>
          <p:cNvSpPr txBox="1"/>
          <p:nvPr/>
        </p:nvSpPr>
        <p:spPr>
          <a:xfrm>
            <a:off x="9061704" y="2468880"/>
            <a:ext cx="2432304" cy="502920"/>
          </a:xfrm>
          <a:prstGeom prst="rect">
            <a:avLst/>
          </a:prstGeom>
          <a:noFill/>
        </p:spPr>
        <p:txBody>
          <a:bodyPr wrap="square">
            <a:spAutoFit/>
          </a:bodyPr>
          <a:lstStyle/>
          <a:p>
            <a:pPr algn="ctr"/>
            <a:r>
              <a:rPr sz="1000" b="0" i="0">
                <a:solidFill>
                  <a:srgbClr val="94A3B8"/>
                </a:solidFill>
                <a:latin typeface="Segoe UI"/>
              </a:rPr>
              <a:t>Data &amp; CSV-beheer</a:t>
            </a:r>
          </a:p>
        </p:txBody>
      </p:sp>
      <p:sp>
        <p:nvSpPr>
          <p:cNvPr id="21" name="Rectangle 20"/>
          <p:cNvSpPr/>
          <p:nvPr/>
        </p:nvSpPr>
        <p:spPr>
          <a:xfrm>
            <a:off x="502920" y="3291840"/>
            <a:ext cx="2651760" cy="1691640"/>
          </a:xfrm>
          <a:prstGeom prst="rect">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429000"/>
            <a:ext cx="2651760" cy="502920"/>
          </a:xfrm>
          <a:prstGeom prst="rect">
            <a:avLst/>
          </a:prstGeom>
          <a:noFill/>
        </p:spPr>
        <p:txBody>
          <a:bodyPr wrap="square">
            <a:spAutoFit/>
          </a:bodyPr>
          <a:lstStyle/>
          <a:p>
            <a:pPr algn="ctr"/>
            <a:r>
              <a:rPr sz="2400" b="0" i="0">
                <a:solidFill>
                  <a:srgbClr val="E2E8F0"/>
                </a:solidFill>
                <a:latin typeface="Segoe UI"/>
              </a:rPr>
              <a:t>🎹</a:t>
            </a:r>
          </a:p>
        </p:txBody>
      </p:sp>
      <p:sp>
        <p:nvSpPr>
          <p:cNvPr id="23" name="TextBox 22"/>
          <p:cNvSpPr txBox="1"/>
          <p:nvPr/>
        </p:nvSpPr>
        <p:spPr>
          <a:xfrm>
            <a:off x="612648" y="3931920"/>
            <a:ext cx="2432304" cy="411480"/>
          </a:xfrm>
          <a:prstGeom prst="rect">
            <a:avLst/>
          </a:prstGeom>
          <a:noFill/>
        </p:spPr>
        <p:txBody>
          <a:bodyPr wrap="square">
            <a:spAutoFit/>
          </a:bodyPr>
          <a:lstStyle/>
          <a:p>
            <a:pPr algn="ctr"/>
            <a:r>
              <a:rPr sz="1300" b="1" i="0">
                <a:solidFill>
                  <a:srgbClr val="38BDF8"/>
                </a:solidFill>
                <a:latin typeface="Segoe UI"/>
              </a:rPr>
              <a:t>html-midi-player</a:t>
            </a:r>
          </a:p>
        </p:txBody>
      </p:sp>
      <p:sp>
        <p:nvSpPr>
          <p:cNvPr id="24" name="TextBox 23"/>
          <p:cNvSpPr txBox="1"/>
          <p:nvPr/>
        </p:nvSpPr>
        <p:spPr>
          <a:xfrm>
            <a:off x="612648" y="4343400"/>
            <a:ext cx="2432304" cy="502920"/>
          </a:xfrm>
          <a:prstGeom prst="rect">
            <a:avLst/>
          </a:prstGeom>
          <a:noFill/>
        </p:spPr>
        <p:txBody>
          <a:bodyPr wrap="square">
            <a:spAutoFit/>
          </a:bodyPr>
          <a:lstStyle/>
          <a:p>
            <a:pPr algn="ctr"/>
            <a:r>
              <a:rPr sz="1000" b="0" i="0">
                <a:solidFill>
                  <a:srgbClr val="94A3B8"/>
                </a:solidFill>
                <a:latin typeface="Segoe UI"/>
              </a:rPr>
              <a:t>Piano-roll in browser</a:t>
            </a:r>
          </a:p>
        </p:txBody>
      </p:sp>
      <p:sp>
        <p:nvSpPr>
          <p:cNvPr id="25" name="Rectangle 24"/>
          <p:cNvSpPr/>
          <p:nvPr/>
        </p:nvSpPr>
        <p:spPr>
          <a:xfrm>
            <a:off x="3319272" y="3291840"/>
            <a:ext cx="2651760" cy="1691640"/>
          </a:xfrm>
          <a:prstGeom prst="rect">
            <a:avLst/>
          </a:prstGeom>
          <a:solidFill>
            <a:srgbClr val="1E293B"/>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19272" y="3429000"/>
            <a:ext cx="2651760" cy="502920"/>
          </a:xfrm>
          <a:prstGeom prst="rect">
            <a:avLst/>
          </a:prstGeom>
          <a:noFill/>
        </p:spPr>
        <p:txBody>
          <a:bodyPr wrap="square">
            <a:spAutoFit/>
          </a:bodyPr>
          <a:lstStyle/>
          <a:p>
            <a:pPr algn="ctr"/>
            <a:r>
              <a:rPr sz="2400" b="0" i="0">
                <a:solidFill>
                  <a:srgbClr val="E2E8F0"/>
                </a:solidFill>
                <a:latin typeface="Segoe UI"/>
              </a:rPr>
              <a:t>🎼</a:t>
            </a:r>
          </a:p>
        </p:txBody>
      </p:sp>
      <p:sp>
        <p:nvSpPr>
          <p:cNvPr id="27" name="TextBox 26"/>
          <p:cNvSpPr txBox="1"/>
          <p:nvPr/>
        </p:nvSpPr>
        <p:spPr>
          <a:xfrm>
            <a:off x="3429000" y="3931920"/>
            <a:ext cx="2432304" cy="411480"/>
          </a:xfrm>
          <a:prstGeom prst="rect">
            <a:avLst/>
          </a:prstGeom>
          <a:noFill/>
        </p:spPr>
        <p:txBody>
          <a:bodyPr wrap="square">
            <a:spAutoFit/>
          </a:bodyPr>
          <a:lstStyle/>
          <a:p>
            <a:pPr algn="ctr"/>
            <a:r>
              <a:rPr sz="1300" b="1" i="0">
                <a:solidFill>
                  <a:srgbClr val="F59E0B"/>
                </a:solidFill>
                <a:latin typeface="Segoe UI"/>
              </a:rPr>
              <a:t>abcjs</a:t>
            </a:r>
          </a:p>
        </p:txBody>
      </p:sp>
      <p:sp>
        <p:nvSpPr>
          <p:cNvPr id="28" name="TextBox 27"/>
          <p:cNvSpPr txBox="1"/>
          <p:nvPr/>
        </p:nvSpPr>
        <p:spPr>
          <a:xfrm>
            <a:off x="3429000" y="4343400"/>
            <a:ext cx="2432304" cy="502920"/>
          </a:xfrm>
          <a:prstGeom prst="rect">
            <a:avLst/>
          </a:prstGeom>
          <a:noFill/>
        </p:spPr>
        <p:txBody>
          <a:bodyPr wrap="square">
            <a:spAutoFit/>
          </a:bodyPr>
          <a:lstStyle/>
          <a:p>
            <a:pPr algn="ctr"/>
            <a:r>
              <a:rPr sz="1000" b="0" i="0">
                <a:solidFill>
                  <a:srgbClr val="94A3B8"/>
                </a:solidFill>
                <a:latin typeface="Segoe UI"/>
              </a:rPr>
              <a:t>Bladmuziek → SVG</a:t>
            </a:r>
          </a:p>
        </p:txBody>
      </p:sp>
      <p:sp>
        <p:nvSpPr>
          <p:cNvPr id="29" name="Rectangle 28"/>
          <p:cNvSpPr/>
          <p:nvPr/>
        </p:nvSpPr>
        <p:spPr>
          <a:xfrm>
            <a:off x="6135624" y="3291840"/>
            <a:ext cx="2651760" cy="1691640"/>
          </a:xfrm>
          <a:prstGeom prst="rect">
            <a:avLst/>
          </a:prstGeom>
          <a:solidFill>
            <a:srgbClr val="1E293B"/>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35624" y="3429000"/>
            <a:ext cx="2651760" cy="502920"/>
          </a:xfrm>
          <a:prstGeom prst="rect">
            <a:avLst/>
          </a:prstGeom>
          <a:noFill/>
        </p:spPr>
        <p:txBody>
          <a:bodyPr wrap="square">
            <a:spAutoFit/>
          </a:bodyPr>
          <a:lstStyle/>
          <a:p>
            <a:pPr algn="ctr"/>
            <a:r>
              <a:rPr sz="2400" b="0" i="0">
                <a:solidFill>
                  <a:srgbClr val="E2E8F0"/>
                </a:solidFill>
                <a:latin typeface="Segoe UI"/>
              </a:rPr>
              <a:t>🧮</a:t>
            </a:r>
          </a:p>
        </p:txBody>
      </p:sp>
      <p:sp>
        <p:nvSpPr>
          <p:cNvPr id="31" name="TextBox 30"/>
          <p:cNvSpPr txBox="1"/>
          <p:nvPr/>
        </p:nvSpPr>
        <p:spPr>
          <a:xfrm>
            <a:off x="6245352" y="3931920"/>
            <a:ext cx="2432304" cy="411480"/>
          </a:xfrm>
          <a:prstGeom prst="rect">
            <a:avLst/>
          </a:prstGeom>
          <a:noFill/>
        </p:spPr>
        <p:txBody>
          <a:bodyPr wrap="square">
            <a:spAutoFit/>
          </a:bodyPr>
          <a:lstStyle/>
          <a:p>
            <a:pPr algn="ctr"/>
            <a:r>
              <a:rPr sz="1300" b="1" i="0">
                <a:solidFill>
                  <a:srgbClr val="A78BFA"/>
                </a:solidFill>
                <a:latin typeface="Segoe UI"/>
              </a:rPr>
              <a:t>NumPy</a:t>
            </a:r>
          </a:p>
        </p:txBody>
      </p:sp>
      <p:sp>
        <p:nvSpPr>
          <p:cNvPr id="32" name="TextBox 31"/>
          <p:cNvSpPr txBox="1"/>
          <p:nvPr/>
        </p:nvSpPr>
        <p:spPr>
          <a:xfrm>
            <a:off x="6245352" y="4343400"/>
            <a:ext cx="2432304" cy="502920"/>
          </a:xfrm>
          <a:prstGeom prst="rect">
            <a:avLst/>
          </a:prstGeom>
          <a:noFill/>
        </p:spPr>
        <p:txBody>
          <a:bodyPr wrap="square">
            <a:spAutoFit/>
          </a:bodyPr>
          <a:lstStyle/>
          <a:p>
            <a:pPr algn="ctr"/>
            <a:r>
              <a:rPr sz="1000" b="0" i="0">
                <a:solidFill>
                  <a:srgbClr val="94A3B8"/>
                </a:solidFill>
                <a:latin typeface="Segoe UI"/>
              </a:rPr>
              <a:t>Sequentie-verwerking</a:t>
            </a:r>
          </a:p>
        </p:txBody>
      </p:sp>
      <p:sp>
        <p:nvSpPr>
          <p:cNvPr id="33" name="Rectangle 32"/>
          <p:cNvSpPr/>
          <p:nvPr/>
        </p:nvSpPr>
        <p:spPr>
          <a:xfrm>
            <a:off x="8951976" y="3291840"/>
            <a:ext cx="2651760" cy="1691640"/>
          </a:xfrm>
          <a:prstGeom prst="rect">
            <a:avLst/>
          </a:prstGeom>
          <a:solidFill>
            <a:srgbClr val="1E293B"/>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51976" y="3429000"/>
            <a:ext cx="2651760" cy="502920"/>
          </a:xfrm>
          <a:prstGeom prst="rect">
            <a:avLst/>
          </a:prstGeom>
          <a:noFill/>
        </p:spPr>
        <p:txBody>
          <a:bodyPr wrap="square">
            <a:spAutoFit/>
          </a:bodyPr>
          <a:lstStyle/>
          <a:p>
            <a:pPr algn="ctr"/>
            <a:r>
              <a:rPr sz="2400" b="0" i="0">
                <a:solidFill>
                  <a:srgbClr val="E2E8F0"/>
                </a:solidFill>
                <a:latin typeface="Segoe UI"/>
              </a:rPr>
              <a:t>⚡</a:t>
            </a:r>
          </a:p>
        </p:txBody>
      </p:sp>
      <p:sp>
        <p:nvSpPr>
          <p:cNvPr id="35" name="TextBox 34"/>
          <p:cNvSpPr txBox="1"/>
          <p:nvPr/>
        </p:nvSpPr>
        <p:spPr>
          <a:xfrm>
            <a:off x="9061704" y="3931920"/>
            <a:ext cx="2432304" cy="411480"/>
          </a:xfrm>
          <a:prstGeom prst="rect">
            <a:avLst/>
          </a:prstGeom>
          <a:noFill/>
        </p:spPr>
        <p:txBody>
          <a:bodyPr wrap="square">
            <a:spAutoFit/>
          </a:bodyPr>
          <a:lstStyle/>
          <a:p>
            <a:pPr algn="ctr"/>
            <a:r>
              <a:rPr sz="1300" b="1" i="0">
                <a:solidFill>
                  <a:srgbClr val="10B981"/>
                </a:solidFill>
                <a:latin typeface="Segoe UI"/>
              </a:rPr>
              <a:t>Intel IPEX</a:t>
            </a:r>
          </a:p>
        </p:txBody>
      </p:sp>
      <p:sp>
        <p:nvSpPr>
          <p:cNvPr id="36" name="TextBox 35"/>
          <p:cNvSpPr txBox="1"/>
          <p:nvPr/>
        </p:nvSpPr>
        <p:spPr>
          <a:xfrm>
            <a:off x="9061704" y="4343400"/>
            <a:ext cx="2432304" cy="502920"/>
          </a:xfrm>
          <a:prstGeom prst="rect">
            <a:avLst/>
          </a:prstGeom>
          <a:noFill/>
        </p:spPr>
        <p:txBody>
          <a:bodyPr wrap="square">
            <a:spAutoFit/>
          </a:bodyPr>
          <a:lstStyle/>
          <a:p>
            <a:pPr algn="ctr"/>
            <a:r>
              <a:rPr sz="1000" b="0" i="0">
                <a:solidFill>
                  <a:srgbClr val="94A3B8"/>
                </a:solidFill>
                <a:latin typeface="Segoe UI"/>
              </a:rPr>
              <a:t>Arc GPU-optimalisatie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Voorbeeld 1  —  BWV 227.11 — Jesu meine Freude</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Genre: Motet</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oorbeeld_1.png"/>
          <p:cNvPicPr>
            <a:picLocks noChangeAspect="1"/>
          </p:cNvPicPr>
          <p:nvPr/>
        </p:nvPicPr>
        <p:blipFill>
          <a:blip r:embed="rId2"/>
          <a:stretch>
            <a:fillRect/>
          </a:stretch>
        </p:blipFill>
        <p:spPr>
          <a:xfrm>
            <a:off x="502920" y="1417320"/>
            <a:ext cx="7315200" cy="4297680"/>
          </a:xfrm>
          <a:prstGeom prst="rect">
            <a:avLst/>
          </a:prstGeom>
        </p:spPr>
      </p:pic>
      <p:sp>
        <p:nvSpPr>
          <p:cNvPr id="6" name="Rectangle 5"/>
          <p:cNvSpPr/>
          <p:nvPr/>
        </p:nvSpPr>
        <p:spPr>
          <a:xfrm>
            <a:off x="8046720" y="1417320"/>
            <a:ext cx="3657600" cy="4297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0" y="1508760"/>
            <a:ext cx="3291840" cy="365760"/>
          </a:xfrm>
          <a:prstGeom prst="rect">
            <a:avLst/>
          </a:prstGeom>
          <a:noFill/>
        </p:spPr>
        <p:txBody>
          <a:bodyPr wrap="square">
            <a:spAutoFit/>
          </a:bodyPr>
          <a:lstStyle/>
          <a:p>
            <a:pPr algn="l"/>
            <a:r>
              <a:rPr sz="1200" b="1" i="0">
                <a:solidFill>
                  <a:srgbClr val="E2E8F0"/>
                </a:solidFill>
                <a:latin typeface="Segoe UI"/>
              </a:rPr>
              <a:t>Gemiddelde score (0–100%)</a:t>
            </a:r>
          </a:p>
        </p:txBody>
      </p:sp>
      <p:sp>
        <p:nvSpPr>
          <p:cNvPr id="8" name="Rectangle 7"/>
          <p:cNvSpPr/>
          <p:nvPr/>
        </p:nvSpPr>
        <p:spPr>
          <a:xfrm>
            <a:off x="8229600" y="192024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965960"/>
            <a:ext cx="1828800" cy="274320"/>
          </a:xfrm>
          <a:prstGeom prst="rect">
            <a:avLst/>
          </a:prstGeom>
          <a:noFill/>
        </p:spPr>
        <p:txBody>
          <a:bodyPr wrap="square">
            <a:spAutoFit/>
          </a:bodyPr>
          <a:lstStyle/>
          <a:p>
            <a:pPr algn="l"/>
            <a:r>
              <a:rPr sz="1100" b="0" i="0">
                <a:solidFill>
                  <a:srgbClr val="38BDF8"/>
                </a:solidFill>
                <a:latin typeface="Segoe UI"/>
              </a:rPr>
              <a:t>AI-aanvulling</a:t>
            </a:r>
          </a:p>
        </p:txBody>
      </p:sp>
      <p:sp>
        <p:nvSpPr>
          <p:cNvPr id="10" name="TextBox 9"/>
          <p:cNvSpPr txBox="1"/>
          <p:nvPr/>
        </p:nvSpPr>
        <p:spPr>
          <a:xfrm>
            <a:off x="10058400" y="1956816"/>
            <a:ext cx="1280160" cy="384048"/>
          </a:xfrm>
          <a:prstGeom prst="rect">
            <a:avLst/>
          </a:prstGeom>
          <a:noFill/>
        </p:spPr>
        <p:txBody>
          <a:bodyPr wrap="square">
            <a:spAutoFit/>
          </a:bodyPr>
          <a:lstStyle/>
          <a:p>
            <a:pPr algn="r"/>
            <a:r>
              <a:rPr sz="2000" b="1" i="0">
                <a:solidFill>
                  <a:srgbClr val="38BDF8"/>
                </a:solidFill>
                <a:latin typeface="Segoe UI"/>
              </a:rPr>
              <a:t>62%</a:t>
            </a:r>
          </a:p>
        </p:txBody>
      </p:sp>
      <p:sp>
        <p:nvSpPr>
          <p:cNvPr id="11" name="Rectangle 10"/>
          <p:cNvSpPr/>
          <p:nvPr/>
        </p:nvSpPr>
        <p:spPr>
          <a:xfrm>
            <a:off x="8229600" y="265176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2697480"/>
            <a:ext cx="1828800" cy="274320"/>
          </a:xfrm>
          <a:prstGeom prst="rect">
            <a:avLst/>
          </a:prstGeom>
          <a:noFill/>
        </p:spPr>
        <p:txBody>
          <a:bodyPr wrap="square">
            <a:spAutoFit/>
          </a:bodyPr>
          <a:lstStyle/>
          <a:p>
            <a:pPr algn="l"/>
            <a:r>
              <a:rPr sz="1100" b="0" i="0">
                <a:solidFill>
                  <a:srgbClr val="10B981"/>
                </a:solidFill>
                <a:latin typeface="Segoe UI"/>
              </a:rPr>
              <a:t>Fine-tuned</a:t>
            </a:r>
          </a:p>
        </p:txBody>
      </p:sp>
      <p:sp>
        <p:nvSpPr>
          <p:cNvPr id="13" name="TextBox 12"/>
          <p:cNvSpPr txBox="1"/>
          <p:nvPr/>
        </p:nvSpPr>
        <p:spPr>
          <a:xfrm>
            <a:off x="10058400" y="2688336"/>
            <a:ext cx="1280160" cy="384048"/>
          </a:xfrm>
          <a:prstGeom prst="rect">
            <a:avLst/>
          </a:prstGeom>
          <a:noFill/>
        </p:spPr>
        <p:txBody>
          <a:bodyPr wrap="square">
            <a:spAutoFit/>
          </a:bodyPr>
          <a:lstStyle/>
          <a:p>
            <a:pPr algn="r"/>
            <a:r>
              <a:rPr sz="2000" b="1" i="0">
                <a:solidFill>
                  <a:srgbClr val="10B981"/>
                </a:solidFill>
                <a:latin typeface="Segoe UI"/>
              </a:rPr>
              <a:t>68%</a:t>
            </a:r>
          </a:p>
        </p:txBody>
      </p:sp>
      <p:sp>
        <p:nvSpPr>
          <p:cNvPr id="14" name="Rectangle 13"/>
          <p:cNvSpPr/>
          <p:nvPr/>
        </p:nvSpPr>
        <p:spPr>
          <a:xfrm>
            <a:off x="8229600" y="338328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3429000"/>
            <a:ext cx="1828800" cy="274320"/>
          </a:xfrm>
          <a:prstGeom prst="rect">
            <a:avLst/>
          </a:prstGeom>
          <a:noFill/>
        </p:spPr>
        <p:txBody>
          <a:bodyPr wrap="square">
            <a:spAutoFit/>
          </a:bodyPr>
          <a:lstStyle/>
          <a:p>
            <a:pPr algn="l"/>
            <a:r>
              <a:rPr sz="1100" b="0" i="0">
                <a:solidFill>
                  <a:srgbClr val="A78BFA"/>
                </a:solidFill>
                <a:latin typeface="Segoe UI"/>
              </a:rPr>
              <a:t>Bach-stijl</a:t>
            </a:r>
          </a:p>
        </p:txBody>
      </p:sp>
      <p:sp>
        <p:nvSpPr>
          <p:cNvPr id="16" name="TextBox 15"/>
          <p:cNvSpPr txBox="1"/>
          <p:nvPr/>
        </p:nvSpPr>
        <p:spPr>
          <a:xfrm>
            <a:off x="10058400" y="3419856"/>
            <a:ext cx="1280160" cy="384048"/>
          </a:xfrm>
          <a:prstGeom prst="rect">
            <a:avLst/>
          </a:prstGeom>
          <a:noFill/>
        </p:spPr>
        <p:txBody>
          <a:bodyPr wrap="square">
            <a:spAutoFit/>
          </a:bodyPr>
          <a:lstStyle/>
          <a:p>
            <a:pPr algn="r"/>
            <a:r>
              <a:rPr sz="2000" b="1" i="0">
                <a:solidFill>
                  <a:srgbClr val="A78BFA"/>
                </a:solidFill>
                <a:latin typeface="Segoe UI"/>
              </a:rPr>
              <a:t>55%</a:t>
            </a:r>
          </a:p>
        </p:txBody>
      </p:sp>
      <p:sp>
        <p:nvSpPr>
          <p:cNvPr id="17" name="Rectangle 16"/>
          <p:cNvSpPr/>
          <p:nvPr/>
        </p:nvSpPr>
        <p:spPr>
          <a:xfrm>
            <a:off x="8229600" y="411480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60" y="4160520"/>
            <a:ext cx="1828800" cy="274320"/>
          </a:xfrm>
          <a:prstGeom prst="rect">
            <a:avLst/>
          </a:prstGeom>
          <a:noFill/>
        </p:spPr>
        <p:txBody>
          <a:bodyPr wrap="square">
            <a:spAutoFit/>
          </a:bodyPr>
          <a:lstStyle/>
          <a:p>
            <a:pPr algn="l"/>
            <a:r>
              <a:rPr sz="1100" b="0" i="0">
                <a:solidFill>
                  <a:srgbClr val="F87171"/>
                </a:solidFill>
                <a:latin typeface="Segoe UI"/>
              </a:rPr>
              <a:t>Willekeurig</a:t>
            </a:r>
          </a:p>
        </p:txBody>
      </p:sp>
      <p:sp>
        <p:nvSpPr>
          <p:cNvPr id="19" name="TextBox 18"/>
          <p:cNvSpPr txBox="1"/>
          <p:nvPr/>
        </p:nvSpPr>
        <p:spPr>
          <a:xfrm>
            <a:off x="10058400" y="4151376"/>
            <a:ext cx="1280160" cy="384048"/>
          </a:xfrm>
          <a:prstGeom prst="rect">
            <a:avLst/>
          </a:prstGeom>
          <a:noFill/>
        </p:spPr>
        <p:txBody>
          <a:bodyPr wrap="square">
            <a:spAutoFit/>
          </a:bodyPr>
          <a:lstStyle/>
          <a:p>
            <a:pPr algn="r"/>
            <a:r>
              <a:rPr sz="2000" b="1" i="0">
                <a:solidFill>
                  <a:srgbClr val="F87171"/>
                </a:solidFill>
                <a:latin typeface="Segoe UI"/>
              </a:rPr>
              <a:t>31%</a:t>
            </a:r>
          </a:p>
        </p:txBody>
      </p:sp>
      <p:sp>
        <p:nvSpPr>
          <p:cNvPr id="20" name="Rectangle 19"/>
          <p:cNvSpPr/>
          <p:nvPr/>
        </p:nvSpPr>
        <p:spPr>
          <a:xfrm>
            <a:off x="502920" y="5852160"/>
            <a:ext cx="11155680" cy="822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925312"/>
            <a:ext cx="1828800" cy="320040"/>
          </a:xfrm>
          <a:prstGeom prst="rect">
            <a:avLst/>
          </a:prstGeom>
          <a:noFill/>
        </p:spPr>
        <p:txBody>
          <a:bodyPr wrap="square">
            <a:spAutoFit/>
          </a:bodyPr>
          <a:lstStyle/>
          <a:p>
            <a:pPr algn="l"/>
            <a:r>
              <a:rPr sz="1100" b="1" i="0">
                <a:solidFill>
                  <a:srgbClr val="38BDF8"/>
                </a:solidFill>
                <a:latin typeface="Segoe UI"/>
              </a:rPr>
              <a:t>Observaties:</a:t>
            </a:r>
          </a:p>
        </p:txBody>
      </p:sp>
      <p:sp>
        <p:nvSpPr>
          <p:cNvPr id="22" name="TextBox 21"/>
          <p:cNvSpPr txBox="1"/>
          <p:nvPr/>
        </p:nvSpPr>
        <p:spPr>
          <a:xfrm>
            <a:off x="2560320" y="5925312"/>
            <a:ext cx="9144000" cy="685800"/>
          </a:xfrm>
          <a:prstGeom prst="rect">
            <a:avLst/>
          </a:prstGeom>
          <a:noFill/>
        </p:spPr>
        <p:txBody>
          <a:bodyPr wrap="square">
            <a:spAutoFit/>
          </a:bodyPr>
          <a:lstStyle/>
          <a:p>
            <a:pPr algn="l"/>
            <a:r>
              <a:rPr sz="1100" b="0" i="0">
                <a:solidFill>
                  <a:srgbClr val="94A3B8"/>
                </a:solidFill>
                <a:latin typeface="Segoe UI"/>
              </a:rPr>
              <a:t>Fine-tuned beste score: model kent de motieven van het stuk  |  Bach-stijl iets lager: kortere seed, geen toonaard-filter  |  Willekeurig laagst op alle vier metrics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Voorbeeld 2  —  BWV 253 — Koraal</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Genre: Koraal</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oorbeeld_2.png"/>
          <p:cNvPicPr>
            <a:picLocks noChangeAspect="1"/>
          </p:cNvPicPr>
          <p:nvPr/>
        </p:nvPicPr>
        <p:blipFill>
          <a:blip r:embed="rId2"/>
          <a:stretch>
            <a:fillRect/>
          </a:stretch>
        </p:blipFill>
        <p:spPr>
          <a:xfrm>
            <a:off x="502920" y="1417320"/>
            <a:ext cx="7315200" cy="4297680"/>
          </a:xfrm>
          <a:prstGeom prst="rect">
            <a:avLst/>
          </a:prstGeom>
        </p:spPr>
      </p:pic>
      <p:sp>
        <p:nvSpPr>
          <p:cNvPr id="6" name="Rectangle 5"/>
          <p:cNvSpPr/>
          <p:nvPr/>
        </p:nvSpPr>
        <p:spPr>
          <a:xfrm>
            <a:off x="8046720" y="1417320"/>
            <a:ext cx="3657600" cy="4297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0" y="1508760"/>
            <a:ext cx="3291840" cy="365760"/>
          </a:xfrm>
          <a:prstGeom prst="rect">
            <a:avLst/>
          </a:prstGeom>
          <a:noFill/>
        </p:spPr>
        <p:txBody>
          <a:bodyPr wrap="square">
            <a:spAutoFit/>
          </a:bodyPr>
          <a:lstStyle/>
          <a:p>
            <a:pPr algn="l"/>
            <a:r>
              <a:rPr sz="1200" b="1" i="0">
                <a:solidFill>
                  <a:srgbClr val="E2E8F0"/>
                </a:solidFill>
                <a:latin typeface="Segoe UI"/>
              </a:rPr>
              <a:t>Gemiddelde score (0–100%)</a:t>
            </a:r>
          </a:p>
        </p:txBody>
      </p:sp>
      <p:sp>
        <p:nvSpPr>
          <p:cNvPr id="8" name="Rectangle 7"/>
          <p:cNvSpPr/>
          <p:nvPr/>
        </p:nvSpPr>
        <p:spPr>
          <a:xfrm>
            <a:off x="8229600" y="192024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965960"/>
            <a:ext cx="1828800" cy="274320"/>
          </a:xfrm>
          <a:prstGeom prst="rect">
            <a:avLst/>
          </a:prstGeom>
          <a:noFill/>
        </p:spPr>
        <p:txBody>
          <a:bodyPr wrap="square">
            <a:spAutoFit/>
          </a:bodyPr>
          <a:lstStyle/>
          <a:p>
            <a:pPr algn="l"/>
            <a:r>
              <a:rPr sz="1100" b="0" i="0">
                <a:solidFill>
                  <a:srgbClr val="38BDF8"/>
                </a:solidFill>
                <a:latin typeface="Segoe UI"/>
              </a:rPr>
              <a:t>AI-aanvulling</a:t>
            </a:r>
          </a:p>
        </p:txBody>
      </p:sp>
      <p:sp>
        <p:nvSpPr>
          <p:cNvPr id="10" name="TextBox 9"/>
          <p:cNvSpPr txBox="1"/>
          <p:nvPr/>
        </p:nvSpPr>
        <p:spPr>
          <a:xfrm>
            <a:off x="10058400" y="1956816"/>
            <a:ext cx="1280160" cy="384048"/>
          </a:xfrm>
          <a:prstGeom prst="rect">
            <a:avLst/>
          </a:prstGeom>
          <a:noFill/>
        </p:spPr>
        <p:txBody>
          <a:bodyPr wrap="square">
            <a:spAutoFit/>
          </a:bodyPr>
          <a:lstStyle/>
          <a:p>
            <a:pPr algn="r"/>
            <a:r>
              <a:rPr sz="2000" b="1" i="0">
                <a:solidFill>
                  <a:srgbClr val="38BDF8"/>
                </a:solidFill>
                <a:latin typeface="Segoe UI"/>
              </a:rPr>
              <a:t>71%</a:t>
            </a:r>
          </a:p>
        </p:txBody>
      </p:sp>
      <p:sp>
        <p:nvSpPr>
          <p:cNvPr id="11" name="Rectangle 10"/>
          <p:cNvSpPr/>
          <p:nvPr/>
        </p:nvSpPr>
        <p:spPr>
          <a:xfrm>
            <a:off x="8229600" y="265176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2697480"/>
            <a:ext cx="1828800" cy="274320"/>
          </a:xfrm>
          <a:prstGeom prst="rect">
            <a:avLst/>
          </a:prstGeom>
          <a:noFill/>
        </p:spPr>
        <p:txBody>
          <a:bodyPr wrap="square">
            <a:spAutoFit/>
          </a:bodyPr>
          <a:lstStyle/>
          <a:p>
            <a:pPr algn="l"/>
            <a:r>
              <a:rPr sz="1100" b="0" i="0">
                <a:solidFill>
                  <a:srgbClr val="10B981"/>
                </a:solidFill>
                <a:latin typeface="Segoe UI"/>
              </a:rPr>
              <a:t>Fine-tuned</a:t>
            </a:r>
          </a:p>
        </p:txBody>
      </p:sp>
      <p:sp>
        <p:nvSpPr>
          <p:cNvPr id="13" name="TextBox 12"/>
          <p:cNvSpPr txBox="1"/>
          <p:nvPr/>
        </p:nvSpPr>
        <p:spPr>
          <a:xfrm>
            <a:off x="10058400" y="2688336"/>
            <a:ext cx="1280160" cy="384048"/>
          </a:xfrm>
          <a:prstGeom prst="rect">
            <a:avLst/>
          </a:prstGeom>
          <a:noFill/>
        </p:spPr>
        <p:txBody>
          <a:bodyPr wrap="square">
            <a:spAutoFit/>
          </a:bodyPr>
          <a:lstStyle/>
          <a:p>
            <a:pPr algn="r"/>
            <a:r>
              <a:rPr sz="2000" b="1" i="0">
                <a:solidFill>
                  <a:srgbClr val="10B981"/>
                </a:solidFill>
                <a:latin typeface="Segoe UI"/>
              </a:rPr>
              <a:t>74%</a:t>
            </a:r>
          </a:p>
        </p:txBody>
      </p:sp>
      <p:sp>
        <p:nvSpPr>
          <p:cNvPr id="14" name="Rectangle 13"/>
          <p:cNvSpPr/>
          <p:nvPr/>
        </p:nvSpPr>
        <p:spPr>
          <a:xfrm>
            <a:off x="8229600" y="338328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3429000"/>
            <a:ext cx="1828800" cy="274320"/>
          </a:xfrm>
          <a:prstGeom prst="rect">
            <a:avLst/>
          </a:prstGeom>
          <a:noFill/>
        </p:spPr>
        <p:txBody>
          <a:bodyPr wrap="square">
            <a:spAutoFit/>
          </a:bodyPr>
          <a:lstStyle/>
          <a:p>
            <a:pPr algn="l"/>
            <a:r>
              <a:rPr sz="1100" b="0" i="0">
                <a:solidFill>
                  <a:srgbClr val="A78BFA"/>
                </a:solidFill>
                <a:latin typeface="Segoe UI"/>
              </a:rPr>
              <a:t>Bach-stijl</a:t>
            </a:r>
          </a:p>
        </p:txBody>
      </p:sp>
      <p:sp>
        <p:nvSpPr>
          <p:cNvPr id="16" name="TextBox 15"/>
          <p:cNvSpPr txBox="1"/>
          <p:nvPr/>
        </p:nvSpPr>
        <p:spPr>
          <a:xfrm>
            <a:off x="10058400" y="3419856"/>
            <a:ext cx="1280160" cy="384048"/>
          </a:xfrm>
          <a:prstGeom prst="rect">
            <a:avLst/>
          </a:prstGeom>
          <a:noFill/>
        </p:spPr>
        <p:txBody>
          <a:bodyPr wrap="square">
            <a:spAutoFit/>
          </a:bodyPr>
          <a:lstStyle/>
          <a:p>
            <a:pPr algn="r"/>
            <a:r>
              <a:rPr sz="2000" b="1" i="0">
                <a:solidFill>
                  <a:srgbClr val="A78BFA"/>
                </a:solidFill>
                <a:latin typeface="Segoe UI"/>
              </a:rPr>
              <a:t>65%</a:t>
            </a:r>
          </a:p>
        </p:txBody>
      </p:sp>
      <p:sp>
        <p:nvSpPr>
          <p:cNvPr id="17" name="Rectangle 16"/>
          <p:cNvSpPr/>
          <p:nvPr/>
        </p:nvSpPr>
        <p:spPr>
          <a:xfrm>
            <a:off x="8229600" y="411480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60" y="4160520"/>
            <a:ext cx="1828800" cy="274320"/>
          </a:xfrm>
          <a:prstGeom prst="rect">
            <a:avLst/>
          </a:prstGeom>
          <a:noFill/>
        </p:spPr>
        <p:txBody>
          <a:bodyPr wrap="square">
            <a:spAutoFit/>
          </a:bodyPr>
          <a:lstStyle/>
          <a:p>
            <a:pPr algn="l"/>
            <a:r>
              <a:rPr sz="1100" b="0" i="0">
                <a:solidFill>
                  <a:srgbClr val="F87171"/>
                </a:solidFill>
                <a:latin typeface="Segoe UI"/>
              </a:rPr>
              <a:t>Willekeurig</a:t>
            </a:r>
          </a:p>
        </p:txBody>
      </p:sp>
      <p:sp>
        <p:nvSpPr>
          <p:cNvPr id="19" name="TextBox 18"/>
          <p:cNvSpPr txBox="1"/>
          <p:nvPr/>
        </p:nvSpPr>
        <p:spPr>
          <a:xfrm>
            <a:off x="10058400" y="4151376"/>
            <a:ext cx="1280160" cy="384048"/>
          </a:xfrm>
          <a:prstGeom prst="rect">
            <a:avLst/>
          </a:prstGeom>
          <a:noFill/>
        </p:spPr>
        <p:txBody>
          <a:bodyPr wrap="square">
            <a:spAutoFit/>
          </a:bodyPr>
          <a:lstStyle/>
          <a:p>
            <a:pPr algn="r"/>
            <a:r>
              <a:rPr sz="2000" b="1" i="0">
                <a:solidFill>
                  <a:srgbClr val="F87171"/>
                </a:solidFill>
                <a:latin typeface="Segoe UI"/>
              </a:rPr>
              <a:t>28%</a:t>
            </a:r>
          </a:p>
        </p:txBody>
      </p:sp>
      <p:sp>
        <p:nvSpPr>
          <p:cNvPr id="20" name="Rectangle 19"/>
          <p:cNvSpPr/>
          <p:nvPr/>
        </p:nvSpPr>
        <p:spPr>
          <a:xfrm>
            <a:off x="502920" y="5852160"/>
            <a:ext cx="11155680" cy="822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925312"/>
            <a:ext cx="1828800" cy="320040"/>
          </a:xfrm>
          <a:prstGeom prst="rect">
            <a:avLst/>
          </a:prstGeom>
          <a:noFill/>
        </p:spPr>
        <p:txBody>
          <a:bodyPr wrap="square">
            <a:spAutoFit/>
          </a:bodyPr>
          <a:lstStyle/>
          <a:p>
            <a:pPr algn="l"/>
            <a:r>
              <a:rPr sz="1100" b="1" i="0">
                <a:solidFill>
                  <a:srgbClr val="38BDF8"/>
                </a:solidFill>
                <a:latin typeface="Segoe UI"/>
              </a:rPr>
              <a:t>Observaties:</a:t>
            </a:r>
          </a:p>
        </p:txBody>
      </p:sp>
      <p:sp>
        <p:nvSpPr>
          <p:cNvPr id="22" name="TextBox 21"/>
          <p:cNvSpPr txBox="1"/>
          <p:nvPr/>
        </p:nvSpPr>
        <p:spPr>
          <a:xfrm>
            <a:off x="2560320" y="5925312"/>
            <a:ext cx="9144000" cy="685800"/>
          </a:xfrm>
          <a:prstGeom prst="rect">
            <a:avLst/>
          </a:prstGeom>
          <a:noFill/>
        </p:spPr>
        <p:txBody>
          <a:bodyPr wrap="square">
            <a:spAutoFit/>
          </a:bodyPr>
          <a:lstStyle/>
          <a:p>
            <a:pPr algn="l"/>
            <a:r>
              <a:rPr sz="1100" b="0" i="0">
                <a:solidFill>
                  <a:srgbClr val="94A3B8"/>
                </a:solidFill>
                <a:latin typeface="Segoe UI"/>
              </a:rPr>
              <a:t>Koralen eenvoudiger van structuur — hogere scores algemeen  |  N-gram score hoog: model herkent typische koraalmotieven  |  Bach-stijl genereert vrij ritme: meer variatie, iets lagere score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Voorbeeld 3  —  BWV 10.7 — Cantate</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Genre: Cantate</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oorbeeld_3.png"/>
          <p:cNvPicPr>
            <a:picLocks noChangeAspect="1"/>
          </p:cNvPicPr>
          <p:nvPr/>
        </p:nvPicPr>
        <p:blipFill>
          <a:blip r:embed="rId2"/>
          <a:stretch>
            <a:fillRect/>
          </a:stretch>
        </p:blipFill>
        <p:spPr>
          <a:xfrm>
            <a:off x="502920" y="1417320"/>
            <a:ext cx="7315200" cy="4297680"/>
          </a:xfrm>
          <a:prstGeom prst="rect">
            <a:avLst/>
          </a:prstGeom>
        </p:spPr>
      </p:pic>
      <p:sp>
        <p:nvSpPr>
          <p:cNvPr id="6" name="Rectangle 5"/>
          <p:cNvSpPr/>
          <p:nvPr/>
        </p:nvSpPr>
        <p:spPr>
          <a:xfrm>
            <a:off x="8046720" y="1417320"/>
            <a:ext cx="3657600" cy="4297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0" y="1508760"/>
            <a:ext cx="3291840" cy="365760"/>
          </a:xfrm>
          <a:prstGeom prst="rect">
            <a:avLst/>
          </a:prstGeom>
          <a:noFill/>
        </p:spPr>
        <p:txBody>
          <a:bodyPr wrap="square">
            <a:spAutoFit/>
          </a:bodyPr>
          <a:lstStyle/>
          <a:p>
            <a:pPr algn="l"/>
            <a:r>
              <a:rPr sz="1200" b="1" i="0">
                <a:solidFill>
                  <a:srgbClr val="E2E8F0"/>
                </a:solidFill>
                <a:latin typeface="Segoe UI"/>
              </a:rPr>
              <a:t>Gemiddelde score (0–100%)</a:t>
            </a:r>
          </a:p>
        </p:txBody>
      </p:sp>
      <p:sp>
        <p:nvSpPr>
          <p:cNvPr id="8" name="Rectangle 7"/>
          <p:cNvSpPr/>
          <p:nvPr/>
        </p:nvSpPr>
        <p:spPr>
          <a:xfrm>
            <a:off x="8229600" y="192024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965960"/>
            <a:ext cx="1828800" cy="274320"/>
          </a:xfrm>
          <a:prstGeom prst="rect">
            <a:avLst/>
          </a:prstGeom>
          <a:noFill/>
        </p:spPr>
        <p:txBody>
          <a:bodyPr wrap="square">
            <a:spAutoFit/>
          </a:bodyPr>
          <a:lstStyle/>
          <a:p>
            <a:pPr algn="l"/>
            <a:r>
              <a:rPr sz="1100" b="0" i="0">
                <a:solidFill>
                  <a:srgbClr val="38BDF8"/>
                </a:solidFill>
                <a:latin typeface="Segoe UI"/>
              </a:rPr>
              <a:t>AI-aanvulling</a:t>
            </a:r>
          </a:p>
        </p:txBody>
      </p:sp>
      <p:sp>
        <p:nvSpPr>
          <p:cNvPr id="10" name="TextBox 9"/>
          <p:cNvSpPr txBox="1"/>
          <p:nvPr/>
        </p:nvSpPr>
        <p:spPr>
          <a:xfrm>
            <a:off x="10058400" y="1956816"/>
            <a:ext cx="1280160" cy="384048"/>
          </a:xfrm>
          <a:prstGeom prst="rect">
            <a:avLst/>
          </a:prstGeom>
          <a:noFill/>
        </p:spPr>
        <p:txBody>
          <a:bodyPr wrap="square">
            <a:spAutoFit/>
          </a:bodyPr>
          <a:lstStyle/>
          <a:p>
            <a:pPr algn="r"/>
            <a:r>
              <a:rPr sz="2000" b="1" i="0">
                <a:solidFill>
                  <a:srgbClr val="38BDF8"/>
                </a:solidFill>
                <a:latin typeface="Segoe UI"/>
              </a:rPr>
              <a:t>58%</a:t>
            </a:r>
          </a:p>
        </p:txBody>
      </p:sp>
      <p:sp>
        <p:nvSpPr>
          <p:cNvPr id="11" name="Rectangle 10"/>
          <p:cNvSpPr/>
          <p:nvPr/>
        </p:nvSpPr>
        <p:spPr>
          <a:xfrm>
            <a:off x="8229600" y="265176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2697480"/>
            <a:ext cx="1828800" cy="274320"/>
          </a:xfrm>
          <a:prstGeom prst="rect">
            <a:avLst/>
          </a:prstGeom>
          <a:noFill/>
        </p:spPr>
        <p:txBody>
          <a:bodyPr wrap="square">
            <a:spAutoFit/>
          </a:bodyPr>
          <a:lstStyle/>
          <a:p>
            <a:pPr algn="l"/>
            <a:r>
              <a:rPr sz="1100" b="0" i="0">
                <a:solidFill>
                  <a:srgbClr val="10B981"/>
                </a:solidFill>
                <a:latin typeface="Segoe UI"/>
              </a:rPr>
              <a:t>Fine-tuned</a:t>
            </a:r>
          </a:p>
        </p:txBody>
      </p:sp>
      <p:sp>
        <p:nvSpPr>
          <p:cNvPr id="13" name="TextBox 12"/>
          <p:cNvSpPr txBox="1"/>
          <p:nvPr/>
        </p:nvSpPr>
        <p:spPr>
          <a:xfrm>
            <a:off x="10058400" y="2688336"/>
            <a:ext cx="1280160" cy="384048"/>
          </a:xfrm>
          <a:prstGeom prst="rect">
            <a:avLst/>
          </a:prstGeom>
          <a:noFill/>
        </p:spPr>
        <p:txBody>
          <a:bodyPr wrap="square">
            <a:spAutoFit/>
          </a:bodyPr>
          <a:lstStyle/>
          <a:p>
            <a:pPr algn="r"/>
            <a:r>
              <a:rPr sz="2000" b="1" i="0">
                <a:solidFill>
                  <a:srgbClr val="10B981"/>
                </a:solidFill>
                <a:latin typeface="Segoe UI"/>
              </a:rPr>
              <a:t>63%</a:t>
            </a:r>
          </a:p>
        </p:txBody>
      </p:sp>
      <p:sp>
        <p:nvSpPr>
          <p:cNvPr id="14" name="Rectangle 13"/>
          <p:cNvSpPr/>
          <p:nvPr/>
        </p:nvSpPr>
        <p:spPr>
          <a:xfrm>
            <a:off x="8229600" y="338328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3429000"/>
            <a:ext cx="1828800" cy="274320"/>
          </a:xfrm>
          <a:prstGeom prst="rect">
            <a:avLst/>
          </a:prstGeom>
          <a:noFill/>
        </p:spPr>
        <p:txBody>
          <a:bodyPr wrap="square">
            <a:spAutoFit/>
          </a:bodyPr>
          <a:lstStyle/>
          <a:p>
            <a:pPr algn="l"/>
            <a:r>
              <a:rPr sz="1100" b="0" i="0">
                <a:solidFill>
                  <a:srgbClr val="A78BFA"/>
                </a:solidFill>
                <a:latin typeface="Segoe UI"/>
              </a:rPr>
              <a:t>Bach-stijl</a:t>
            </a:r>
          </a:p>
        </p:txBody>
      </p:sp>
      <p:sp>
        <p:nvSpPr>
          <p:cNvPr id="16" name="TextBox 15"/>
          <p:cNvSpPr txBox="1"/>
          <p:nvPr/>
        </p:nvSpPr>
        <p:spPr>
          <a:xfrm>
            <a:off x="10058400" y="3419856"/>
            <a:ext cx="1280160" cy="384048"/>
          </a:xfrm>
          <a:prstGeom prst="rect">
            <a:avLst/>
          </a:prstGeom>
          <a:noFill/>
        </p:spPr>
        <p:txBody>
          <a:bodyPr wrap="square">
            <a:spAutoFit/>
          </a:bodyPr>
          <a:lstStyle/>
          <a:p>
            <a:pPr algn="r"/>
            <a:r>
              <a:rPr sz="2000" b="1" i="0">
                <a:solidFill>
                  <a:srgbClr val="A78BFA"/>
                </a:solidFill>
                <a:latin typeface="Segoe UI"/>
              </a:rPr>
              <a:t>51%</a:t>
            </a:r>
          </a:p>
        </p:txBody>
      </p:sp>
      <p:sp>
        <p:nvSpPr>
          <p:cNvPr id="17" name="Rectangle 16"/>
          <p:cNvSpPr/>
          <p:nvPr/>
        </p:nvSpPr>
        <p:spPr>
          <a:xfrm>
            <a:off x="8229600" y="4114800"/>
            <a:ext cx="3291840" cy="59436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60" y="4160520"/>
            <a:ext cx="1828800" cy="274320"/>
          </a:xfrm>
          <a:prstGeom prst="rect">
            <a:avLst/>
          </a:prstGeom>
          <a:noFill/>
        </p:spPr>
        <p:txBody>
          <a:bodyPr wrap="square">
            <a:spAutoFit/>
          </a:bodyPr>
          <a:lstStyle/>
          <a:p>
            <a:pPr algn="l"/>
            <a:r>
              <a:rPr sz="1100" b="0" i="0">
                <a:solidFill>
                  <a:srgbClr val="F87171"/>
                </a:solidFill>
                <a:latin typeface="Segoe UI"/>
              </a:rPr>
              <a:t>Willekeurig</a:t>
            </a:r>
          </a:p>
        </p:txBody>
      </p:sp>
      <p:sp>
        <p:nvSpPr>
          <p:cNvPr id="19" name="TextBox 18"/>
          <p:cNvSpPr txBox="1"/>
          <p:nvPr/>
        </p:nvSpPr>
        <p:spPr>
          <a:xfrm>
            <a:off x="10058400" y="4151376"/>
            <a:ext cx="1280160" cy="384048"/>
          </a:xfrm>
          <a:prstGeom prst="rect">
            <a:avLst/>
          </a:prstGeom>
          <a:noFill/>
        </p:spPr>
        <p:txBody>
          <a:bodyPr wrap="square">
            <a:spAutoFit/>
          </a:bodyPr>
          <a:lstStyle/>
          <a:p>
            <a:pPr algn="r"/>
            <a:r>
              <a:rPr sz="2000" b="1" i="0">
                <a:solidFill>
                  <a:srgbClr val="F87171"/>
                </a:solidFill>
                <a:latin typeface="Segoe UI"/>
              </a:rPr>
              <a:t>26%</a:t>
            </a:r>
          </a:p>
        </p:txBody>
      </p:sp>
      <p:sp>
        <p:nvSpPr>
          <p:cNvPr id="20" name="Rectangle 19"/>
          <p:cNvSpPr/>
          <p:nvPr/>
        </p:nvSpPr>
        <p:spPr>
          <a:xfrm>
            <a:off x="502920" y="5852160"/>
            <a:ext cx="11155680" cy="822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925312"/>
            <a:ext cx="1828800" cy="320040"/>
          </a:xfrm>
          <a:prstGeom prst="rect">
            <a:avLst/>
          </a:prstGeom>
          <a:noFill/>
        </p:spPr>
        <p:txBody>
          <a:bodyPr wrap="square">
            <a:spAutoFit/>
          </a:bodyPr>
          <a:lstStyle/>
          <a:p>
            <a:pPr algn="l"/>
            <a:r>
              <a:rPr sz="1100" b="1" i="0">
                <a:solidFill>
                  <a:srgbClr val="38BDF8"/>
                </a:solidFill>
                <a:latin typeface="Segoe UI"/>
              </a:rPr>
              <a:t>Observaties:</a:t>
            </a:r>
          </a:p>
        </p:txBody>
      </p:sp>
      <p:sp>
        <p:nvSpPr>
          <p:cNvPr id="22" name="TextBox 21"/>
          <p:cNvSpPr txBox="1"/>
          <p:nvPr/>
        </p:nvSpPr>
        <p:spPr>
          <a:xfrm>
            <a:off x="2560320" y="5925312"/>
            <a:ext cx="9144000" cy="685800"/>
          </a:xfrm>
          <a:prstGeom prst="rect">
            <a:avLst/>
          </a:prstGeom>
          <a:noFill/>
        </p:spPr>
        <p:txBody>
          <a:bodyPr wrap="square">
            <a:spAutoFit/>
          </a:bodyPr>
          <a:lstStyle/>
          <a:p>
            <a:pPr algn="l"/>
            <a:r>
              <a:rPr sz="1100" b="0" i="0">
                <a:solidFill>
                  <a:srgbClr val="94A3B8"/>
                </a:solidFill>
                <a:latin typeface="Segoe UI"/>
              </a:rPr>
              <a:t>Cantates zijn complexer — moeilijker voor het model  |  Fine-tuning helpt significant bij complexere structuren  |  Bach-stijl: geen toonaard-filter zichtbaar in lagere Chroma-score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Samenvatting</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Wat hebben we gebouwd — en wat leert het ons?</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63040"/>
            <a:ext cx="5394960" cy="192024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63040"/>
            <a:ext cx="73152" cy="19202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554480"/>
            <a:ext cx="502920" cy="502920"/>
          </a:xfrm>
          <a:prstGeom prst="rect">
            <a:avLst/>
          </a:prstGeom>
          <a:noFill/>
        </p:spPr>
        <p:txBody>
          <a:bodyPr wrap="square">
            <a:spAutoFit/>
          </a:bodyPr>
          <a:lstStyle/>
          <a:p>
            <a:pPr algn="l"/>
            <a:r>
              <a:rPr sz="2200" b="0" i="0">
                <a:solidFill>
                  <a:srgbClr val="E2E8F0"/>
                </a:solidFill>
                <a:latin typeface="Segoe UI"/>
              </a:rPr>
              <a:t>📥</a:t>
            </a:r>
          </a:p>
        </p:txBody>
      </p:sp>
      <p:sp>
        <p:nvSpPr>
          <p:cNvPr id="8" name="TextBox 7"/>
          <p:cNvSpPr txBox="1"/>
          <p:nvPr/>
        </p:nvSpPr>
        <p:spPr>
          <a:xfrm>
            <a:off x="1280160" y="1572768"/>
            <a:ext cx="4480560" cy="384048"/>
          </a:xfrm>
          <a:prstGeom prst="rect">
            <a:avLst/>
          </a:prstGeom>
          <a:noFill/>
        </p:spPr>
        <p:txBody>
          <a:bodyPr wrap="square">
            <a:spAutoFit/>
          </a:bodyPr>
          <a:lstStyle/>
          <a:p>
            <a:pPr algn="l"/>
            <a:r>
              <a:rPr sz="1300" b="1" i="0">
                <a:solidFill>
                  <a:srgbClr val="38BDF8"/>
                </a:solidFill>
                <a:latin typeface="Segoe UI"/>
              </a:rPr>
              <a:t>Datapipeline</a:t>
            </a:r>
          </a:p>
        </p:txBody>
      </p:sp>
      <p:sp>
        <p:nvSpPr>
          <p:cNvPr id="9" name="TextBox 8"/>
          <p:cNvSpPr txBox="1"/>
          <p:nvPr/>
        </p:nvSpPr>
        <p:spPr>
          <a:xfrm>
            <a:off x="704088" y="2029968"/>
            <a:ext cx="5065776" cy="1261872"/>
          </a:xfrm>
          <a:prstGeom prst="rect">
            <a:avLst/>
          </a:prstGeom>
          <a:noFill/>
        </p:spPr>
        <p:txBody>
          <a:bodyPr wrap="square">
            <a:spAutoFit/>
          </a:bodyPr>
          <a:lstStyle/>
          <a:p>
            <a:pPr algn="l"/>
            <a:r>
              <a:rPr sz="1000" b="0" i="0">
                <a:solidFill>
                  <a:srgbClr val="94A3B8"/>
                </a:solidFill>
                <a:latin typeface="Segoe UI"/>
              </a:rPr>
              <a:t>400+ Bach-werken worden automatisch gedownload, omgezet naar (pitch, duur)-tokens en ingedeeld in 8 genres op basis van BWV-nummer. Zonder handmatige stap.</a:t>
            </a:r>
          </a:p>
        </p:txBody>
      </p:sp>
      <p:sp>
        <p:nvSpPr>
          <p:cNvPr id="10" name="Rectangle 9"/>
          <p:cNvSpPr/>
          <p:nvPr/>
        </p:nvSpPr>
        <p:spPr>
          <a:xfrm>
            <a:off x="6172200" y="1463040"/>
            <a:ext cx="5394960" cy="1920240"/>
          </a:xfrm>
          <a:prstGeom prst="rect">
            <a:avLst/>
          </a:prstGeom>
          <a:solidFill>
            <a:srgbClr val="1E293B"/>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463040"/>
            <a:ext cx="73152" cy="192024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554480"/>
            <a:ext cx="502920" cy="502920"/>
          </a:xfrm>
          <a:prstGeom prst="rect">
            <a:avLst/>
          </a:prstGeom>
          <a:noFill/>
        </p:spPr>
        <p:txBody>
          <a:bodyPr wrap="square">
            <a:spAutoFit/>
          </a:bodyPr>
          <a:lstStyle/>
          <a:p>
            <a:pPr algn="l"/>
            <a:r>
              <a:rPr sz="2200" b="0" i="0">
                <a:solidFill>
                  <a:srgbClr val="E2E8F0"/>
                </a:solidFill>
                <a:latin typeface="Segoe UI"/>
              </a:rPr>
              <a:t>🧠</a:t>
            </a:r>
          </a:p>
        </p:txBody>
      </p:sp>
      <p:sp>
        <p:nvSpPr>
          <p:cNvPr id="13" name="TextBox 12"/>
          <p:cNvSpPr txBox="1"/>
          <p:nvPr/>
        </p:nvSpPr>
        <p:spPr>
          <a:xfrm>
            <a:off x="6949440" y="1572768"/>
            <a:ext cx="4480560" cy="384048"/>
          </a:xfrm>
          <a:prstGeom prst="rect">
            <a:avLst/>
          </a:prstGeom>
          <a:noFill/>
        </p:spPr>
        <p:txBody>
          <a:bodyPr wrap="square">
            <a:spAutoFit/>
          </a:bodyPr>
          <a:lstStyle/>
          <a:p>
            <a:pPr algn="l"/>
            <a:r>
              <a:rPr sz="1300" b="1" i="0">
                <a:solidFill>
                  <a:srgbClr val="A78BFA"/>
                </a:solidFill>
                <a:latin typeface="Segoe UI"/>
              </a:rPr>
              <a:t>LSTM-taalmodel</a:t>
            </a:r>
          </a:p>
        </p:txBody>
      </p:sp>
      <p:sp>
        <p:nvSpPr>
          <p:cNvPr id="14" name="TextBox 13"/>
          <p:cNvSpPr txBox="1"/>
          <p:nvPr/>
        </p:nvSpPr>
        <p:spPr>
          <a:xfrm>
            <a:off x="6373368" y="2029968"/>
            <a:ext cx="5065776" cy="1261872"/>
          </a:xfrm>
          <a:prstGeom prst="rect">
            <a:avLst/>
          </a:prstGeom>
          <a:noFill/>
        </p:spPr>
        <p:txBody>
          <a:bodyPr wrap="square">
            <a:spAutoFit/>
          </a:bodyPr>
          <a:lstStyle/>
          <a:p>
            <a:pPr algn="l"/>
            <a:r>
              <a:rPr sz="1000" b="0" i="0">
                <a:solidFill>
                  <a:srgbClr val="94A3B8"/>
                </a:solidFill>
                <a:latin typeface="Segoe UI"/>
              </a:rPr>
              <a:t>Een LSTM leert de stijl van Bach als een kansmodel over tokenreeksen. Embedding, verborgen toestand en dropout zijn volledig instelbaar via de UI.</a:t>
            </a:r>
          </a:p>
        </p:txBody>
      </p:sp>
      <p:sp>
        <p:nvSpPr>
          <p:cNvPr id="15" name="Rectangle 14"/>
          <p:cNvSpPr/>
          <p:nvPr/>
        </p:nvSpPr>
        <p:spPr>
          <a:xfrm>
            <a:off x="502920" y="3566160"/>
            <a:ext cx="5394960" cy="1920240"/>
          </a:xfrm>
          <a:prstGeom prst="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566160"/>
            <a:ext cx="73152"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657600"/>
            <a:ext cx="502920" cy="502920"/>
          </a:xfrm>
          <a:prstGeom prst="rect">
            <a:avLst/>
          </a:prstGeom>
          <a:noFill/>
        </p:spPr>
        <p:txBody>
          <a:bodyPr wrap="square">
            <a:spAutoFit/>
          </a:bodyPr>
          <a:lstStyle/>
          <a:p>
            <a:pPr algn="l"/>
            <a:r>
              <a:rPr sz="2200" b="0" i="0">
                <a:solidFill>
                  <a:srgbClr val="E2E8F0"/>
                </a:solidFill>
                <a:latin typeface="Segoe UI"/>
              </a:rPr>
              <a:t>🎼</a:t>
            </a:r>
          </a:p>
        </p:txBody>
      </p:sp>
      <p:sp>
        <p:nvSpPr>
          <p:cNvPr id="18" name="TextBox 17"/>
          <p:cNvSpPr txBox="1"/>
          <p:nvPr/>
        </p:nvSpPr>
        <p:spPr>
          <a:xfrm>
            <a:off x="1280160" y="3675888"/>
            <a:ext cx="4480560" cy="384048"/>
          </a:xfrm>
          <a:prstGeom prst="rect">
            <a:avLst/>
          </a:prstGeom>
          <a:noFill/>
        </p:spPr>
        <p:txBody>
          <a:bodyPr wrap="square">
            <a:spAutoFit/>
          </a:bodyPr>
          <a:lstStyle/>
          <a:p>
            <a:pPr algn="l"/>
            <a:r>
              <a:rPr sz="1300" b="1" i="0">
                <a:solidFill>
                  <a:srgbClr val="F59E0B"/>
                </a:solidFill>
                <a:latin typeface="Segoe UI"/>
              </a:rPr>
              <a:t>Vier generatiemodi</a:t>
            </a:r>
          </a:p>
        </p:txBody>
      </p:sp>
      <p:sp>
        <p:nvSpPr>
          <p:cNvPr id="19" name="TextBox 18"/>
          <p:cNvSpPr txBox="1"/>
          <p:nvPr/>
        </p:nvSpPr>
        <p:spPr>
          <a:xfrm>
            <a:off x="704088" y="4133088"/>
            <a:ext cx="5065776" cy="1261872"/>
          </a:xfrm>
          <a:prstGeom prst="rect">
            <a:avLst/>
          </a:prstGeom>
          <a:noFill/>
        </p:spPr>
        <p:txBody>
          <a:bodyPr wrap="square">
            <a:spAutoFit/>
          </a:bodyPr>
          <a:lstStyle/>
          <a:p>
            <a:pPr algn="l"/>
            <a:r>
              <a:rPr sz="1000" b="0" i="0">
                <a:solidFill>
                  <a:srgbClr val="94A3B8"/>
                </a:solidFill>
                <a:latin typeface="Segoe UI"/>
              </a:rPr>
              <a:t>AI-aanvulling (ritme + toonaard bewaard), Fine-tuned (8 epochs op de eerste helft), Bach-stijl (ritme én melodie vrij gegenereerd) en Willekeurig als nulhypothese.</a:t>
            </a:r>
          </a:p>
        </p:txBody>
      </p:sp>
      <p:sp>
        <p:nvSpPr>
          <p:cNvPr id="20" name="Rectangle 19"/>
          <p:cNvSpPr/>
          <p:nvPr/>
        </p:nvSpPr>
        <p:spPr>
          <a:xfrm>
            <a:off x="6172200" y="3566160"/>
            <a:ext cx="5394960" cy="1920240"/>
          </a:xfrm>
          <a:prstGeom prst="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566160"/>
            <a:ext cx="73152" cy="1920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3657600"/>
            <a:ext cx="502920" cy="502920"/>
          </a:xfrm>
          <a:prstGeom prst="rect">
            <a:avLst/>
          </a:prstGeom>
          <a:noFill/>
        </p:spPr>
        <p:txBody>
          <a:bodyPr wrap="square">
            <a:spAutoFit/>
          </a:bodyPr>
          <a:lstStyle/>
          <a:p>
            <a:pPr algn="l"/>
            <a:r>
              <a:rPr sz="2200" b="0" i="0">
                <a:solidFill>
                  <a:srgbClr val="E2E8F0"/>
                </a:solidFill>
                <a:latin typeface="Segoe UI"/>
              </a:rPr>
              <a:t>📊</a:t>
            </a:r>
          </a:p>
        </p:txBody>
      </p:sp>
      <p:sp>
        <p:nvSpPr>
          <p:cNvPr id="23" name="TextBox 22"/>
          <p:cNvSpPr txBox="1"/>
          <p:nvPr/>
        </p:nvSpPr>
        <p:spPr>
          <a:xfrm>
            <a:off x="6949440" y="3675888"/>
            <a:ext cx="4480560" cy="384048"/>
          </a:xfrm>
          <a:prstGeom prst="rect">
            <a:avLst/>
          </a:prstGeom>
          <a:noFill/>
        </p:spPr>
        <p:txBody>
          <a:bodyPr wrap="square">
            <a:spAutoFit/>
          </a:bodyPr>
          <a:lstStyle/>
          <a:p>
            <a:pPr algn="l"/>
            <a:r>
              <a:rPr sz="1300" b="1" i="0">
                <a:solidFill>
                  <a:srgbClr val="10B981"/>
                </a:solidFill>
                <a:latin typeface="Segoe UI"/>
              </a:rPr>
              <a:t>Objectieve vergelijking</a:t>
            </a:r>
          </a:p>
        </p:txBody>
      </p:sp>
      <p:sp>
        <p:nvSpPr>
          <p:cNvPr id="24" name="TextBox 23"/>
          <p:cNvSpPr txBox="1"/>
          <p:nvPr/>
        </p:nvSpPr>
        <p:spPr>
          <a:xfrm>
            <a:off x="6373368" y="4133088"/>
            <a:ext cx="5065776" cy="1261872"/>
          </a:xfrm>
          <a:prstGeom prst="rect">
            <a:avLst/>
          </a:prstGeom>
          <a:noFill/>
        </p:spPr>
        <p:txBody>
          <a:bodyPr wrap="square">
            <a:spAutoFit/>
          </a:bodyPr>
          <a:lstStyle/>
          <a:p>
            <a:pPr algn="l"/>
            <a:r>
              <a:rPr sz="1000" b="0" i="0">
                <a:solidFill>
                  <a:srgbClr val="94A3B8"/>
                </a:solidFill>
                <a:latin typeface="Segoe UI"/>
              </a:rPr>
              <a:t>Vier muzikale metrics (Chroma, Intervallen, N-gram, Akkoorden) meten de gelijkenis met het origineel enkel op het gegenereerde deel — niet de seed.</a:t>
            </a:r>
          </a:p>
        </p:txBody>
      </p:sp>
      <p:sp>
        <p:nvSpPr>
          <p:cNvPr id="25" name="Rectangle 24"/>
          <p:cNvSpPr/>
          <p:nvPr/>
        </p:nvSpPr>
        <p:spPr>
          <a:xfrm>
            <a:off x="502920" y="5760720"/>
            <a:ext cx="11155680" cy="896112"/>
          </a:xfrm>
          <a:prstGeom prst="rect">
            <a:avLst/>
          </a:prstGeom>
          <a:solidFill>
            <a:srgbClr val="0E28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33872"/>
            <a:ext cx="1645920" cy="320040"/>
          </a:xfrm>
          <a:prstGeom prst="rect">
            <a:avLst/>
          </a:prstGeom>
          <a:noFill/>
        </p:spPr>
        <p:txBody>
          <a:bodyPr wrap="square">
            <a:spAutoFit/>
          </a:bodyPr>
          <a:lstStyle/>
          <a:p>
            <a:pPr algn="l"/>
            <a:r>
              <a:rPr sz="1200" b="1" i="0">
                <a:solidFill>
                  <a:srgbClr val="38BDF8"/>
                </a:solidFill>
                <a:latin typeface="Segoe UI"/>
              </a:rPr>
              <a:t>Conclusie</a:t>
            </a:r>
          </a:p>
        </p:txBody>
      </p:sp>
      <p:sp>
        <p:nvSpPr>
          <p:cNvPr id="27" name="TextBox 26"/>
          <p:cNvSpPr txBox="1"/>
          <p:nvPr/>
        </p:nvSpPr>
        <p:spPr>
          <a:xfrm>
            <a:off x="2423160" y="5833872"/>
            <a:ext cx="9052560" cy="749808"/>
          </a:xfrm>
          <a:prstGeom prst="rect">
            <a:avLst/>
          </a:prstGeom>
          <a:noFill/>
        </p:spPr>
        <p:txBody>
          <a:bodyPr wrap="square">
            <a:spAutoFit/>
          </a:bodyPr>
          <a:lstStyle/>
          <a:p>
            <a:pPr algn="l"/>
            <a:r>
              <a:rPr sz="1100" b="0" i="0">
                <a:solidFill>
                  <a:srgbClr val="E2E8F0"/>
                </a:solidFill>
                <a:latin typeface="Segoe UI"/>
              </a:rPr>
              <a:t>Een LSTM kan Bach-stijl leren en geloofwaardige aanvullingen genereren. Fine-tuning op de seed verbetert de score meetbaar. Zonder toonaard-filter of fine-tuning valt de kwaliteit terug naar willekeurig niveau.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square">
            <a:spAutoFit/>
          </a:bodyPr>
          <a:lstStyle/>
          <a:p>
            <a:pPr algn="l"/>
            <a:r>
              <a:rPr sz="3000" b="1" i="0">
                <a:solidFill>
                  <a:srgbClr val="38BDF8"/>
                </a:solidFill>
                <a:latin typeface="Segoe UI"/>
              </a:rPr>
              <a:t>Reflectie &amp; Vervolgwerk</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400" b="0" i="0">
                <a:solidFill>
                  <a:srgbClr val="94A3B8"/>
                </a:solidFill>
                <a:latin typeface="Segoe UI"/>
              </a:rPr>
              <a:t>Wat werkt, wat kan beter — en wat zijn de volgende stappen?</a:t>
            </a:r>
          </a:p>
        </p:txBody>
      </p:sp>
      <p:sp>
        <p:nvSpPr>
          <p:cNvPr id="4" name="Rectangle 3"/>
          <p:cNvSpPr/>
          <p:nvPr/>
        </p:nvSpPr>
        <p:spPr>
          <a:xfrm>
            <a:off x="502920" y="914400"/>
            <a:ext cx="54864"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5257800" cy="4206240"/>
          </a:xfrm>
          <a:prstGeom prst="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525780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463040"/>
            <a:ext cx="4937760" cy="347472"/>
          </a:xfrm>
          <a:prstGeom prst="rect">
            <a:avLst/>
          </a:prstGeom>
          <a:noFill/>
        </p:spPr>
        <p:txBody>
          <a:bodyPr wrap="square">
            <a:spAutoFit/>
          </a:bodyPr>
          <a:lstStyle/>
          <a:p>
            <a:pPr algn="l"/>
            <a:r>
              <a:rPr sz="1300" b="1" i="0">
                <a:solidFill>
                  <a:srgbClr val="0F172A"/>
                </a:solidFill>
                <a:latin typeface="Segoe UI"/>
              </a:rPr>
              <a:t>Wat werkt goed</a:t>
            </a:r>
          </a:p>
        </p:txBody>
      </p:sp>
      <p:sp>
        <p:nvSpPr>
          <p:cNvPr id="8" name="TextBox 7"/>
          <p:cNvSpPr txBox="1"/>
          <p:nvPr/>
        </p:nvSpPr>
        <p:spPr>
          <a:xfrm>
            <a:off x="658368" y="1920240"/>
            <a:ext cx="4892040" cy="384048"/>
          </a:xfrm>
          <a:prstGeom prst="rect">
            <a:avLst/>
          </a:prstGeom>
          <a:noFill/>
        </p:spPr>
        <p:txBody>
          <a:bodyPr wrap="square">
            <a:spAutoFit/>
          </a:bodyPr>
          <a:lstStyle/>
          <a:p>
            <a:pPr algn="l"/>
            <a:r>
              <a:rPr sz="1100" b="0" i="0">
                <a:solidFill>
                  <a:srgbClr val="E2E8F0"/>
                </a:solidFill>
                <a:latin typeface="Segoe UI"/>
              </a:rPr>
              <a:t>✓  Toonaard wordt correct overgenomen (Chroma-score 55–75%)</a:t>
            </a:r>
          </a:p>
        </p:txBody>
      </p:sp>
      <p:sp>
        <p:nvSpPr>
          <p:cNvPr id="9" name="TextBox 8"/>
          <p:cNvSpPr txBox="1"/>
          <p:nvPr/>
        </p:nvSpPr>
        <p:spPr>
          <a:xfrm>
            <a:off x="658368" y="2304288"/>
            <a:ext cx="4892040" cy="384048"/>
          </a:xfrm>
          <a:prstGeom prst="rect">
            <a:avLst/>
          </a:prstGeom>
          <a:noFill/>
        </p:spPr>
        <p:txBody>
          <a:bodyPr wrap="square">
            <a:spAutoFit/>
          </a:bodyPr>
          <a:lstStyle/>
          <a:p>
            <a:pPr algn="l"/>
            <a:r>
              <a:rPr sz="1100" b="0" i="0">
                <a:solidFill>
                  <a:srgbClr val="E2E8F0"/>
                </a:solidFill>
                <a:latin typeface="Segoe UI"/>
              </a:rPr>
              <a:t>✓  Fine-tuning verbetert de score meetbaar vs. standaard model</a:t>
            </a:r>
          </a:p>
        </p:txBody>
      </p:sp>
      <p:sp>
        <p:nvSpPr>
          <p:cNvPr id="10" name="TextBox 9"/>
          <p:cNvSpPr txBox="1"/>
          <p:nvPr/>
        </p:nvSpPr>
        <p:spPr>
          <a:xfrm>
            <a:off x="658368" y="2688336"/>
            <a:ext cx="4892040" cy="384048"/>
          </a:xfrm>
          <a:prstGeom prst="rect">
            <a:avLst/>
          </a:prstGeom>
          <a:noFill/>
        </p:spPr>
        <p:txBody>
          <a:bodyPr wrap="square">
            <a:spAutoFit/>
          </a:bodyPr>
          <a:lstStyle/>
          <a:p>
            <a:pPr algn="l"/>
            <a:r>
              <a:rPr sz="1100" b="0" i="0">
                <a:solidFill>
                  <a:srgbClr val="E2E8F0"/>
                </a:solidFill>
                <a:latin typeface="Segoe UI"/>
              </a:rPr>
              <a:t>✓  Ritme van het origineel blijft intact in aanvullingsmodus</a:t>
            </a:r>
          </a:p>
        </p:txBody>
      </p:sp>
      <p:sp>
        <p:nvSpPr>
          <p:cNvPr id="11" name="TextBox 10"/>
          <p:cNvSpPr txBox="1"/>
          <p:nvPr/>
        </p:nvSpPr>
        <p:spPr>
          <a:xfrm>
            <a:off x="658368" y="3072384"/>
            <a:ext cx="4892040" cy="384048"/>
          </a:xfrm>
          <a:prstGeom prst="rect">
            <a:avLst/>
          </a:prstGeom>
          <a:noFill/>
        </p:spPr>
        <p:txBody>
          <a:bodyPr wrap="square">
            <a:spAutoFit/>
          </a:bodyPr>
          <a:lstStyle/>
          <a:p>
            <a:pPr algn="l"/>
            <a:r>
              <a:rPr sz="1100" b="0" i="0">
                <a:solidFill>
                  <a:srgbClr val="E2E8F0"/>
                </a:solidFill>
                <a:latin typeface="Segoe UI"/>
              </a:rPr>
              <a:t>✓  Vier objectieve metrics geven een genuanceerd beeld</a:t>
            </a:r>
          </a:p>
        </p:txBody>
      </p:sp>
      <p:sp>
        <p:nvSpPr>
          <p:cNvPr id="12" name="TextBox 11"/>
          <p:cNvSpPr txBox="1"/>
          <p:nvPr/>
        </p:nvSpPr>
        <p:spPr>
          <a:xfrm>
            <a:off x="658368" y="3456432"/>
            <a:ext cx="4892040" cy="384048"/>
          </a:xfrm>
          <a:prstGeom prst="rect">
            <a:avLst/>
          </a:prstGeom>
          <a:noFill/>
        </p:spPr>
        <p:txBody>
          <a:bodyPr wrap="square">
            <a:spAutoFit/>
          </a:bodyPr>
          <a:lstStyle/>
          <a:p>
            <a:pPr algn="l"/>
            <a:r>
              <a:rPr sz="1100" b="0" i="0">
                <a:solidFill>
                  <a:srgbClr val="E2E8F0"/>
                </a:solidFill>
                <a:latin typeface="Segoe UI"/>
              </a:rPr>
              <a:t>✓  Pipeline draait volledig automatisch (download → train → genereer)</a:t>
            </a:r>
          </a:p>
        </p:txBody>
      </p:sp>
      <p:sp>
        <p:nvSpPr>
          <p:cNvPr id="13" name="Rectangle 12"/>
          <p:cNvSpPr/>
          <p:nvPr/>
        </p:nvSpPr>
        <p:spPr>
          <a:xfrm>
            <a:off x="6035040" y="1417320"/>
            <a:ext cx="5577840" cy="4206240"/>
          </a:xfrm>
          <a:prstGeom prst="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5040" y="1417320"/>
            <a:ext cx="557784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0488" y="1463040"/>
            <a:ext cx="5257800" cy="347472"/>
          </a:xfrm>
          <a:prstGeom prst="rect">
            <a:avLst/>
          </a:prstGeom>
          <a:noFill/>
        </p:spPr>
        <p:txBody>
          <a:bodyPr wrap="square">
            <a:spAutoFit/>
          </a:bodyPr>
          <a:lstStyle/>
          <a:p>
            <a:pPr algn="l"/>
            <a:r>
              <a:rPr sz="1300" b="1" i="0">
                <a:solidFill>
                  <a:srgbClr val="0F172A"/>
                </a:solidFill>
                <a:latin typeface="Segoe UI"/>
              </a:rPr>
              <a:t>Mogelijke verbeteringen</a:t>
            </a:r>
          </a:p>
        </p:txBody>
      </p:sp>
      <p:sp>
        <p:nvSpPr>
          <p:cNvPr id="16" name="TextBox 15"/>
          <p:cNvSpPr txBox="1"/>
          <p:nvPr/>
        </p:nvSpPr>
        <p:spPr>
          <a:xfrm>
            <a:off x="6190488" y="1920240"/>
            <a:ext cx="5257800" cy="384048"/>
          </a:xfrm>
          <a:prstGeom prst="rect">
            <a:avLst/>
          </a:prstGeom>
          <a:noFill/>
        </p:spPr>
        <p:txBody>
          <a:bodyPr wrap="square">
            <a:spAutoFit/>
          </a:bodyPr>
          <a:lstStyle/>
          <a:p>
            <a:pPr algn="l"/>
            <a:r>
              <a:rPr sz="1100" b="0" i="0">
                <a:solidFill>
                  <a:srgbClr val="E2E8F0"/>
                </a:solidFill>
                <a:latin typeface="Segoe UI"/>
              </a:rPr>
              <a:t>→  Transformer in plaats van LSTM (betere lange-termijnstructuur)</a:t>
            </a:r>
          </a:p>
        </p:txBody>
      </p:sp>
      <p:sp>
        <p:nvSpPr>
          <p:cNvPr id="17" name="TextBox 16"/>
          <p:cNvSpPr txBox="1"/>
          <p:nvPr/>
        </p:nvSpPr>
        <p:spPr>
          <a:xfrm>
            <a:off x="6190488" y="2304288"/>
            <a:ext cx="5257800" cy="384048"/>
          </a:xfrm>
          <a:prstGeom prst="rect">
            <a:avLst/>
          </a:prstGeom>
          <a:noFill/>
        </p:spPr>
        <p:txBody>
          <a:bodyPr wrap="square">
            <a:spAutoFit/>
          </a:bodyPr>
          <a:lstStyle/>
          <a:p>
            <a:pPr algn="l"/>
            <a:r>
              <a:rPr sz="1100" b="0" i="0">
                <a:solidFill>
                  <a:srgbClr val="E2E8F0"/>
                </a:solidFill>
                <a:latin typeface="Segoe UI"/>
              </a:rPr>
              <a:t>→  Meerstemmige tokenisatie: alle stemmen tegelijk modelleren</a:t>
            </a:r>
          </a:p>
        </p:txBody>
      </p:sp>
      <p:sp>
        <p:nvSpPr>
          <p:cNvPr id="18" name="TextBox 17"/>
          <p:cNvSpPr txBox="1"/>
          <p:nvPr/>
        </p:nvSpPr>
        <p:spPr>
          <a:xfrm>
            <a:off x="6190488" y="2688336"/>
            <a:ext cx="5257800" cy="384048"/>
          </a:xfrm>
          <a:prstGeom prst="rect">
            <a:avLst/>
          </a:prstGeom>
          <a:noFill/>
        </p:spPr>
        <p:txBody>
          <a:bodyPr wrap="square">
            <a:spAutoFit/>
          </a:bodyPr>
          <a:lstStyle/>
          <a:p>
            <a:pPr algn="l"/>
            <a:r>
              <a:rPr sz="1100" b="0" i="0">
                <a:solidFill>
                  <a:srgbClr val="E2E8F0"/>
                </a:solidFill>
                <a:latin typeface="Segoe UI"/>
              </a:rPr>
              <a:t>→  Grotere dataset: alle 1000+ BWV-werken inclusief instrumentaal</a:t>
            </a:r>
          </a:p>
        </p:txBody>
      </p:sp>
      <p:sp>
        <p:nvSpPr>
          <p:cNvPr id="19" name="TextBox 18"/>
          <p:cNvSpPr txBox="1"/>
          <p:nvPr/>
        </p:nvSpPr>
        <p:spPr>
          <a:xfrm>
            <a:off x="6190488" y="3072384"/>
            <a:ext cx="5257800" cy="384048"/>
          </a:xfrm>
          <a:prstGeom prst="rect">
            <a:avLst/>
          </a:prstGeom>
          <a:noFill/>
        </p:spPr>
        <p:txBody>
          <a:bodyPr wrap="square">
            <a:spAutoFit/>
          </a:bodyPr>
          <a:lstStyle/>
          <a:p>
            <a:pPr algn="l"/>
            <a:r>
              <a:rPr sz="1100" b="0" i="0">
                <a:solidFill>
                  <a:srgbClr val="E2E8F0"/>
                </a:solidFill>
                <a:latin typeface="Segoe UI"/>
              </a:rPr>
              <a:t>→  RLHF: menselijke feedback als beloningssignaal</a:t>
            </a:r>
          </a:p>
        </p:txBody>
      </p:sp>
      <p:sp>
        <p:nvSpPr>
          <p:cNvPr id="20" name="TextBox 19"/>
          <p:cNvSpPr txBox="1"/>
          <p:nvPr/>
        </p:nvSpPr>
        <p:spPr>
          <a:xfrm>
            <a:off x="6190488" y="3456432"/>
            <a:ext cx="5257800" cy="384048"/>
          </a:xfrm>
          <a:prstGeom prst="rect">
            <a:avLst/>
          </a:prstGeom>
          <a:noFill/>
        </p:spPr>
        <p:txBody>
          <a:bodyPr wrap="square">
            <a:spAutoFit/>
          </a:bodyPr>
          <a:lstStyle/>
          <a:p>
            <a:pPr algn="l"/>
            <a:r>
              <a:rPr sz="1100" b="0" i="0">
                <a:solidFill>
                  <a:srgbClr val="E2E8F0"/>
                </a:solidFill>
                <a:latin typeface="Segoe UI"/>
              </a:rPr>
              <a:t>→  Evaluatie door muzikanten naast objectieve metrics</a:t>
            </a:r>
          </a:p>
        </p:txBody>
      </p:sp>
      <p:sp>
        <p:nvSpPr>
          <p:cNvPr id="21" name="Rectangle 20"/>
          <p:cNvSpPr/>
          <p:nvPr/>
        </p:nvSpPr>
        <p:spPr>
          <a:xfrm>
            <a:off x="502920" y="5806440"/>
            <a:ext cx="11155680" cy="841248"/>
          </a:xfrm>
          <a:prstGeom prst="rect">
            <a:avLst/>
          </a:prstGeom>
          <a:solidFill>
            <a:srgbClr val="0E28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888736"/>
            <a:ext cx="1371600" cy="320040"/>
          </a:xfrm>
          <a:prstGeom prst="rect">
            <a:avLst/>
          </a:prstGeom>
          <a:noFill/>
        </p:spPr>
        <p:txBody>
          <a:bodyPr wrap="square">
            <a:spAutoFit/>
          </a:bodyPr>
          <a:lstStyle/>
          <a:p>
            <a:pPr algn="l"/>
            <a:r>
              <a:rPr sz="1200" b="1" i="0">
                <a:solidFill>
                  <a:srgbClr val="38BDF8"/>
                </a:solidFill>
                <a:latin typeface="Segoe UI"/>
              </a:rPr>
              <a:t>Live demo:</a:t>
            </a:r>
          </a:p>
        </p:txBody>
      </p:sp>
      <p:sp>
        <p:nvSpPr>
          <p:cNvPr id="23" name="TextBox 22"/>
          <p:cNvSpPr txBox="1"/>
          <p:nvPr/>
        </p:nvSpPr>
        <p:spPr>
          <a:xfrm>
            <a:off x="2148840" y="5888736"/>
            <a:ext cx="3200400" cy="320040"/>
          </a:xfrm>
          <a:prstGeom prst="rect">
            <a:avLst/>
          </a:prstGeom>
          <a:noFill/>
        </p:spPr>
        <p:txBody>
          <a:bodyPr wrap="square">
            <a:spAutoFit/>
          </a:bodyPr>
          <a:lstStyle/>
          <a:p>
            <a:pPr algn="l"/>
            <a:r>
              <a:rPr sz="1200" b="1" i="0">
                <a:solidFill>
                  <a:srgbClr val="F59E0B"/>
                </a:solidFill>
                <a:latin typeface="Segoe UI"/>
              </a:rPr>
              <a:t>streamlit run app.py</a:t>
            </a:r>
          </a:p>
        </p:txBody>
      </p:sp>
      <p:sp>
        <p:nvSpPr>
          <p:cNvPr id="24" name="TextBox 23"/>
          <p:cNvSpPr txBox="1"/>
          <p:nvPr/>
        </p:nvSpPr>
        <p:spPr>
          <a:xfrm>
            <a:off x="5486400" y="5888736"/>
            <a:ext cx="5943600" cy="320040"/>
          </a:xfrm>
          <a:prstGeom prst="rect">
            <a:avLst/>
          </a:prstGeom>
          <a:noFill/>
        </p:spPr>
        <p:txBody>
          <a:bodyPr wrap="square">
            <a:spAutoFit/>
          </a:bodyPr>
          <a:lstStyle/>
          <a:p>
            <a:pPr algn="r"/>
            <a:r>
              <a:rPr sz="1100" b="0" i="0">
                <a:solidFill>
                  <a:srgbClr val="475569"/>
                </a:solidFill>
                <a:latin typeface="Segoe UI"/>
              </a:rPr>
              <a:t>·  Kurt Maekelberghe  ·  Muziekvoorspellen  ·  2025–2026</a:t>
            </a:r>
          </a:p>
        </p:txBody>
      </p:sp>
      <p:sp>
        <p:nvSpPr>
          <p:cNvPr id="25" name="TextBox 24"/>
          <p:cNvSpPr txBox="1"/>
          <p:nvPr/>
        </p:nvSpPr>
        <p:spPr>
          <a:xfrm>
            <a:off x="685800" y="6217920"/>
            <a:ext cx="2743200" cy="347472"/>
          </a:xfrm>
          <a:prstGeom prst="rect">
            <a:avLst/>
          </a:prstGeom>
          <a:noFill/>
        </p:spPr>
        <p:txBody>
          <a:bodyPr wrap="square">
            <a:spAutoFit/>
          </a:bodyPr>
          <a:lstStyle/>
          <a:p>
            <a:pPr algn="l"/>
            <a:r>
              <a:rPr sz="1400" b="1" i="0">
                <a:solidFill>
                  <a:srgbClr val="E2E8F0"/>
                </a:solidFill>
                <a:latin typeface="Segoe UI"/>
              </a:rPr>
              <a:t>Vragen?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